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46304" cy="685800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 GENERATION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Diagram Is Born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natural-language prompt to a costed Azure architecture — every stage, end to end.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A579F2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40599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01168" cy="201168"/>
          </a:xfrm>
          <a:prstGeom prst="ellipse">
            <a:avLst/>
          </a:prstGeom>
          <a:solidFill>
            <a:srgbClr val="2FD1C0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40599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decides visuals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walkthrough for AI PSAs</a:t>
            </a:r>
            <a:pPr indent="0" marL="0">
              <a:buNone/>
            </a:pPr>
            <a:r>
              <a:rPr lang="en-US" sz="1250" dirty="0">
                <a:solidFill>
                  <a:srgbClr val="9AA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  Worked example: HIPAA-compliant Healthcare FHIR API</a:t>
            </a:r>
            <a:pPr indent="0" marL="0">
              <a:buNone/>
            </a:pPr>
            <a:r>
              <a:rPr lang="en-US" sz="1250" dirty="0">
                <a:solidFill>
                  <a:srgbClr val="9AA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  AADB v2.1.10 · October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one idea that explains everything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picks a pixel, an icon, or a price. It emits a strict JSON contract; deterministic engines do the rest.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8608" cy="4297680"/>
          </a:xfrm>
          <a:prstGeom prst="roundRect">
            <a:avLst>
              <a:gd name="adj" fmla="val 1702"/>
            </a:avLst>
          </a:prstGeom>
          <a:solidFill>
            <a:srgbClr val="1A2150"/>
          </a:solidFill>
          <a:ln w="12700">
            <a:solidFill>
              <a:srgbClr val="6D3F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18608" cy="640080"/>
          </a:xfrm>
          <a:prstGeom prst="rect">
            <a:avLst/>
          </a:prstGeom>
          <a:solidFill>
            <a:srgbClr val="6D3FC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 ·  the semantic step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6785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intent from natural language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which Azure services fit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services to logical groups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connections + a workflow narrative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JSON only — no coordinates, no styling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24448" y="1600200"/>
            <a:ext cx="5318608" cy="4297680"/>
          </a:xfrm>
          <a:prstGeom prst="roundRect">
            <a:avLst>
              <a:gd name="adj" fmla="val 1702"/>
            </a:avLst>
          </a:prstGeom>
          <a:solidFill>
            <a:srgbClr val="1A2150"/>
          </a:solidFill>
          <a:ln w="12700">
            <a:solidFill>
              <a:srgbClr val="128E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600200"/>
            <a:ext cx="5318608" cy="640080"/>
          </a:xfrm>
          <a:prstGeom prst="rect">
            <a:avLst/>
          </a:prstGeom>
          <a:solidFill>
            <a:srgbClr val="128E82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160020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 ·  the visual step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4488" y="2468880"/>
            <a:ext cx="46785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names against a curated icon map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each service to a real Azure SVG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groups as containers, typed edges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every position (Dagre / ELK)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services from Azure Retail Prices data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matters: reproducible, model-swappable, and correct-by-construction — not "AI magic."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pipeline: 10 stages, one JSON contract in the middle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stages run in the model. Teal stages run as deterministic code in the browser + token server.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984797" cy="91440"/>
          </a:xfrm>
          <a:prstGeom prst="rect">
            <a:avLst/>
          </a:prstGeom>
          <a:solidFill>
            <a:srgbClr val="8892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5564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26771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86207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26045" y="155448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26045" y="1554480"/>
            <a:ext cx="1984797" cy="91440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11" name="Text 9"/>
          <p:cNvSpPr/>
          <p:nvPr/>
        </p:nvSpPr>
        <p:spPr>
          <a:xfrm>
            <a:off x="2990637" y="175564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90637" y="226771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assembly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90637" y="286207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03449" y="155448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3449" y="1554480"/>
            <a:ext cx="1984797" cy="91440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16" name="Text 14"/>
          <p:cNvSpPr/>
          <p:nvPr/>
        </p:nvSpPr>
        <p:spPr>
          <a:xfrm>
            <a:off x="5268041" y="175564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8041" y="226771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8041" y="286207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80854" y="155448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0854" y="1554480"/>
            <a:ext cx="1984797" cy="91440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21" name="Text 19"/>
          <p:cNvSpPr/>
          <p:nvPr/>
        </p:nvSpPr>
        <p:spPr>
          <a:xfrm>
            <a:off x="7545446" y="175564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5446" y="226771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contract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45446" y="286207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58259" y="155448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58259" y="1554480"/>
            <a:ext cx="1984797" cy="9144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26" name="Text 24"/>
          <p:cNvSpPr/>
          <p:nvPr/>
        </p:nvSpPr>
        <p:spPr>
          <a:xfrm>
            <a:off x="9822851" y="175564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22851" y="226771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+ repair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822851" y="286207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703320"/>
            <a:ext cx="1984797" cy="9144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390448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3232" y="441655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 resolution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3232" y="501091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26045" y="370332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26045" y="3703320"/>
            <a:ext cx="1984797" cy="9144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36" name="Text 34"/>
          <p:cNvSpPr/>
          <p:nvPr/>
        </p:nvSpPr>
        <p:spPr>
          <a:xfrm>
            <a:off x="2990637" y="390448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990637" y="441655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 / zones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990637" y="501091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03449" y="370332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03449" y="3703320"/>
            <a:ext cx="1984797" cy="9144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41" name="Text 39"/>
          <p:cNvSpPr/>
          <p:nvPr/>
        </p:nvSpPr>
        <p:spPr>
          <a:xfrm>
            <a:off x="5268041" y="390448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268041" y="441655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68041" y="501091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80854" y="370332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80854" y="3703320"/>
            <a:ext cx="1984797" cy="9144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46" name="Text 44"/>
          <p:cNvSpPr/>
          <p:nvPr/>
        </p:nvSpPr>
        <p:spPr>
          <a:xfrm>
            <a:off x="7545446" y="390448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545446" y="441655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engine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545446" y="501091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58259" y="3703320"/>
            <a:ext cx="1984797" cy="1691640"/>
          </a:xfrm>
          <a:prstGeom prst="roundRect">
            <a:avLst>
              <a:gd name="adj" fmla="val 4324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58259" y="3703320"/>
            <a:ext cx="1984797" cy="9144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51" name="Text 49"/>
          <p:cNvSpPr/>
          <p:nvPr/>
        </p:nvSpPr>
        <p:spPr>
          <a:xfrm>
            <a:off x="9822851" y="3904488"/>
            <a:ext cx="1655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9822851" y="4416552"/>
            <a:ext cx="1655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Costing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822851" y="5010912"/>
            <a:ext cx="1655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8892C4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89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01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— one contract, many ways 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is the primary path — free-form intent, no schema required.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Live: Ava gathers requirements by voice, then calls a draw_architecture tool with a written brief that enters this same pipeline.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deterministic entry points skip the model entirely:</a:t>
            </a:r>
            <a:endParaRPr lang="en-US" sz="1500" dirty="0"/>
          </a:p>
          <a:p>
            <a:pPr lvl="1" marL="6858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Template — ARM JSON parsed directly (&lt;1s)</a:t>
            </a:r>
            <a:endParaRPr lang="en-US" sz="1500" dirty="0"/>
          </a:p>
          <a:p>
            <a:pPr lvl="1" marL="6858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Azure — live Resource Graph read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converges on the same architecture object downstream.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89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PROMPT (ACTUAL)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HIPAA-compliant healthcare data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platform integrating EHR systems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via HL7 FHIR R4 APIs, PACS/DICOM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imaging (500TB), clinical decision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support, patient portal + secure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messaging, PHI audit logging,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15-min RPO DR…"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sent verbatim as the user message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02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assembly — the system prompt does the heavy lifting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"expert Azure cloud architect… return a JSON specification."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Known-services catalog injected from SERVICE_ICON_MAP so the model uses exact display names.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Icon-category vocabulary (17 categories) constrains the "category" field.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rules encode reference-architecture conventions: grouping, edge budget, monitoring, service caps, refinement discipline, private connectivity, Microsoft Fabric and Microsoft IQ.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output JSON schema is spelled out inline.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(EXCERPT)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include position, x, y,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or height — the layout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calculates positions.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(excerpt):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Create 2-5 logical groups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Use "Microsoft Entra ID"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Consolidate monitoring edges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Limit connections to 12-18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Total services: 8-12 max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03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call — proxied, model-agnostic, JSON-only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holds a key. All traffic goes through the token server at /api/openai, which calls Foundry with its managed identity.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selectable models (GPT-6.x, GPT-5.6, Claude, MAI, DeepSeek, Grok, Mistral, Kimi) — the pipeline is identical regardless of model.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user messages sent; JSON output requested.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+ token metrics are captured and attached to the result for the leaderboard.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SHAPE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/api/openai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messages: [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role: "system", content: … 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role: "user",   content: prompt 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B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key in the browser  ✔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B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swappable         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04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JSON contract — four sections, zero coordinates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— logical containers (id + label only).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id, name, type, category, description, groupId.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— from, to, label, type (sync/async/optional).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— ordered steps, each listing the service IDs involved.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2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contract is the single hand-off from "AI" to "code." Everything after here is deterministic.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SCHEMA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"groups":      [{ id, label }],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"services":    [{ id, name, type,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category, groupId }],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"connections": [{ from, to, label,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type }],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"workflow":    [{ step, description,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services:[…] }]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x, y, width, height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05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Parse, normalize, repair — trust, but verify the model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JSON.parse with strict error handling; malformed output is rejected, not rendered.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is matched against SERVICE_ICON_MAP by name, then by type, and takes the curated name, type and category.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Repairs: merge duplicate shared services, drop dangling edges and group refs, turn policy and identity links into associations, collapse parallel edges.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Guarantees: Fabric items always come with the Fabric Capacity that bills them.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 = getServiceIconMapping(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service.name) ||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getServiceIconMapping(service.type)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(mapping)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= mapping.displayName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= mapping.category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B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"FHIR API" → Azure Health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B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Data Services (databases)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06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 resolution — the official Azure icon set, not clip-art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icon map holds { displayName, category, iconFile } per service.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SVG path is built deterministically from category + iconFile.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714 official Azure SVG icons across 29 category folders are glob-loaded at build time.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category is validated upstream, every node gets a real, correct product icon — no guessing at render time.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RESOLUTION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/Azure_Public_Service_Icons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/Icons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/{category}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/{iconFile}.svg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databases/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10142-icon-service-Azure-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API-for-FHIR.svg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B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714 icons · 29 categories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07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 &amp; zones — structure the model already chose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carries a groupId; groups become compound container nodes.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rules shape the topology: 2-5 groups, max 6 services each.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flow is enforced: Ingress/Edge → Application → Data, left-to-right.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zones (Identity/Security, Monitoring) sit apart from the main request flow.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Tightly-coupled services are kept in the same group to minimize cross-group clutter.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GROUPS (FHIR EXAMPLE)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Ingress and Patient Access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Service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Application and Clinical Workflows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 Functions, Logic Apps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Healthcare Data and Storage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FHIR API, DICOM, Cosmos DB, Storage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Identity and Security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Entra ID, Key Vault, Defender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Monitoring and Observability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 Monitor, Log 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08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— typed, budgeted, and styled by meaning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becomes a React Flow edge from source to target node.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 drives the visual style — no manual styling needed:</a:t>
            </a:r>
            <a:endParaRPr lang="en-US" sz="1500" dirty="0"/>
          </a:p>
          <a:p>
            <a:pPr lvl="1" marL="6858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→ solid (HTTP/SQL) · async → dashed (queues/events) · optional → dotted (fallback)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must be action-oriented ("Submit FHIR bundle"), never generic ("data").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12-18 edge budget + hub-and-spoke monitoring keeps the graph legible.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TYPES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      ───────  solid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57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    — — — —  dashed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 · · · ·  dotted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B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 pattern: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compute → Azure Monitor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→ Log Analytics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(one hub edge, not N edges)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09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— where every pixel actually comes from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supplies zero coordinates; the layout engine computes them all.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Dagre (default): hierarchical, compound-node graph. Services nest inside their group; rankdir + nodesep/ranksep set the flow.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(alternative): layered algorithm for denser graphs — same interface, swappable.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presets + a re-layout action let users re-flow without regenerating.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DAGRE CONFIG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new dagre.graphlib.Graph(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compound: true })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g.setGraph({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rankdir:  "LR",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nodesep:  …,  ranksep: …,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g.setParent(svc.id, group.id)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g.setEdge(conn.from, conn.to)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B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Dagre  |  ELK  — swappable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3" name="Shape 1"/>
          <p:cNvSpPr/>
          <p:nvPr/>
        </p:nvSpPr>
        <p:spPr>
          <a:xfrm>
            <a:off x="166356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4" name="Shape 2"/>
          <p:cNvSpPr/>
          <p:nvPr/>
        </p:nvSpPr>
        <p:spPr>
          <a:xfrm>
            <a:off x="2778496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5" name="Shape 3"/>
          <p:cNvSpPr/>
          <p:nvPr/>
        </p:nvSpPr>
        <p:spPr>
          <a:xfrm>
            <a:off x="3893424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6" name="Shape 4"/>
          <p:cNvSpPr/>
          <p:nvPr/>
        </p:nvSpPr>
        <p:spPr>
          <a:xfrm>
            <a:off x="5008352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7" name="Shape 5"/>
          <p:cNvSpPr/>
          <p:nvPr/>
        </p:nvSpPr>
        <p:spPr>
          <a:xfrm>
            <a:off x="6123280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8" name="Shape 6"/>
          <p:cNvSpPr/>
          <p:nvPr/>
        </p:nvSpPr>
        <p:spPr>
          <a:xfrm>
            <a:off x="7238208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9" name="Shape 7"/>
          <p:cNvSpPr/>
          <p:nvPr/>
        </p:nvSpPr>
        <p:spPr>
          <a:xfrm>
            <a:off x="8353135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0" name="Shape 8"/>
          <p:cNvSpPr/>
          <p:nvPr/>
        </p:nvSpPr>
        <p:spPr>
          <a:xfrm>
            <a:off x="9468063" y="1170432"/>
            <a:ext cx="1060064" cy="109728"/>
          </a:xfrm>
          <a:prstGeom prst="rect">
            <a:avLst/>
          </a:prstGeom>
          <a:solidFill>
            <a:srgbClr val="1A21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2991" y="1170432"/>
            <a:ext cx="1060064" cy="109728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8638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10 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Costing — grounded in Azure Retail Prices, per region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normalized service maps to a pricing meter from Azure Retail Prices snapshots.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data ships per region (14 regions) as local JSON — fast, offline, deterministic.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calculateMonthlyCost sums PAYG estimates; 1-year Reserved is shown side-by-side.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bills at the shared F-SKU capacity; OneLake storage is separate.</a:t>
            </a:r>
            <a:endParaRPr lang="en-US" sz="15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updates live as you change region or edit the diagram.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25135" cy="3977640"/>
          </a:xfrm>
          <a:prstGeom prst="roundRect">
            <a:avLst>
              <a:gd name="adj" fmla="val 1839"/>
            </a:avLst>
          </a:prstGeom>
          <a:solidFill>
            <a:srgbClr val="141A4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49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 LOOKUP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578608"/>
            <a:ext cx="4967935" cy="0"/>
          </a:xfrm>
          <a:prstGeom prst="line">
            <a:avLst/>
          </a:prstGeom>
          <a:noFill/>
          <a:ln w="12700">
            <a:solidFill>
              <a:srgbClr val="2C35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70048"/>
            <a:ext cx="496793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src/data/pricing/regions/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eastus2/azure_api_for_fhir.json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"retailPrice": 0.25,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"unitOfMeasure": "1 Hour",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9A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"armRegionName": "eastus2" 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B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regions · PAYG + 1-yr reserved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 — the Healthcare FHIR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3776" y="1042416"/>
            <a:ext cx="7846624" cy="5184648"/>
          </a:xfrm>
          <a:prstGeom prst="roundRect">
            <a:avLst>
              <a:gd name="adj" fmla="val 1058"/>
            </a:avLst>
          </a:prstGeom>
          <a:solidFill>
            <a:srgbClr val="F7F9FB"/>
          </a:solidFill>
          <a:ln w="12700">
            <a:solidFill>
              <a:srgbClr val="2C356E"/>
            </a:solidFill>
            <a:prstDash val="solid"/>
          </a:ln>
        </p:spPr>
      </p:sp>
      <p:pic>
        <p:nvPicPr>
          <p:cNvPr id="4" name="Image 0" descr="healthcare-fh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736896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97016" y="1097280"/>
            <a:ext cx="2946040" cy="5074920"/>
          </a:xfrm>
          <a:prstGeom prst="roundRect">
            <a:avLst>
              <a:gd name="adj" fmla="val 2483"/>
            </a:avLst>
          </a:prstGeom>
          <a:solidFill>
            <a:srgbClr val="1A2150"/>
          </a:solidFill>
          <a:ln w="12700">
            <a:solidFill>
              <a:srgbClr val="F2B0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25616" y="1325880"/>
            <a:ext cx="24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2B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ESTIMATE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925616" y="1645920"/>
            <a:ext cx="248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~$287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925616" y="2304288"/>
            <a:ext cx="24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PAYG / month · East US 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25616" y="2651760"/>
            <a:ext cx="248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services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groups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edges · 9 sync / 5 async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2B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Retail Prices snapshot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25616" y="5029200"/>
            <a:ext cx="248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with v2.1.10: the diagram itself at full resolution, no canvas chrome. DICOM tier unpriced in this snapshot.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does what — the boundary, stage by stage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solidFill>
            <a:srgbClr val="1A215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35808" y="12344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7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(purple)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76288" y="12344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D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(teal)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solidFill>
            <a:srgbClr val="141A4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35808" y="16916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Live gathers the brief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76288" y="16916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prompt / template / ARG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11094415" cy="457200"/>
          </a:xfrm>
          <a:prstGeom prst="rect">
            <a:avLst/>
          </a:prstGeom>
          <a:solidFill>
            <a:srgbClr val="0E133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assembly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35808" y="21488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rules + schema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76288" y="21488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 prompt from icon map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11094415" cy="457200"/>
          </a:xfrm>
          <a:prstGeom prst="rect">
            <a:avLst/>
          </a:prstGeom>
          <a:solidFill>
            <a:srgbClr val="141A4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call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35808" y="26060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architecture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76288" y="26060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key, capture metrics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11094415" cy="457200"/>
          </a:xfrm>
          <a:prstGeom prst="rect">
            <a:avLst/>
          </a:prstGeom>
          <a:solidFill>
            <a:srgbClr val="0E133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contract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35808" y="30632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groups/services/edges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76288" y="30632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JSON shape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11094415" cy="457200"/>
          </a:xfrm>
          <a:prstGeom prst="rect">
            <a:avLst/>
          </a:prstGeom>
          <a:solidFill>
            <a:srgbClr val="141A4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35808" y="35204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76288" y="35204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Canonicalize, repair, add Fabric Capacity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11094415" cy="457200"/>
          </a:xfrm>
          <a:prstGeom prst="rect">
            <a:avLst/>
          </a:prstGeom>
          <a:solidFill>
            <a:srgbClr val="0E133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035808" y="39776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76288" y="39776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category → real SVG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11094415" cy="457200"/>
          </a:xfrm>
          <a:prstGeom prst="rect">
            <a:avLst/>
          </a:prstGeom>
          <a:solidFill>
            <a:srgbClr val="141A4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 &amp; edges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035808" y="44348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grouping + flows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76288" y="44348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containers + typed edges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solidFill>
            <a:srgbClr val="0E133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035808" y="48920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76288" y="48920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all positions (Dagre/ELK)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solidFill>
            <a:srgbClr val="141A40"/>
          </a:solidFill>
          <a:ln w="6350">
            <a:solidFill>
              <a:srgbClr val="2C35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349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035808" y="53492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76288" y="534924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Retail Prices, sum monthly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898648" y="1234440"/>
            <a:ext cx="27432" cy="4572000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44" name="Shape 42"/>
          <p:cNvSpPr/>
          <p:nvPr/>
        </p:nvSpPr>
        <p:spPr>
          <a:xfrm>
            <a:off x="6739128" y="1234440"/>
            <a:ext cx="27432" cy="457200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Architecture Diagram Builder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146304" cy="6858000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FD1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DESIGN WINS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contract is the product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91440" cy="137160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9748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JSON → same diagram, every time. No render-time guessing.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4448" y="251460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2514600"/>
            <a:ext cx="91440" cy="1371600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12" name="Text 10"/>
          <p:cNvSpPr/>
          <p:nvPr/>
        </p:nvSpPr>
        <p:spPr>
          <a:xfrm>
            <a:off x="6644488" y="269748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Model-swappable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4488" y="310896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models — and Voice Live — flow through one pipeline.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91440" cy="1371600"/>
          </a:xfrm>
          <a:prstGeom prst="rect">
            <a:avLst/>
          </a:prstGeom>
          <a:solidFill>
            <a:srgbClr val="2FD1C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8912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 by construction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80060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icon map + validation beat model hallucination.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24448" y="420624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1A2150"/>
          </a:solidFill>
          <a:ln w="12700">
            <a:solidFill>
              <a:srgbClr val="2C35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4448" y="4206240"/>
            <a:ext cx="91440" cy="1371600"/>
          </a:xfrm>
          <a:prstGeom prst="rect">
            <a:avLst/>
          </a:prstGeom>
          <a:solidFill>
            <a:srgbClr val="A579F2"/>
          </a:solidFill>
          <a:ln/>
        </p:spPr>
      </p:sp>
      <p:sp>
        <p:nvSpPr>
          <p:cNvPr id="20" name="Text 18"/>
          <p:cNvSpPr/>
          <p:nvPr/>
        </p:nvSpPr>
        <p:spPr>
          <a:xfrm>
            <a:off x="6644488" y="438912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where it counts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44488" y="4800600"/>
            <a:ext cx="476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&amp; Resource Graph imports skip the model — sub-second.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dives: DOCS/LLM_PROMPT_DOCUMENTATION.md · DOCS/ARCHITECTURE.md · DOCS/LAYOUT_ENGINES_COMPARISON.md · DOCS/REGIONAL_PRICING_IMPLEMENTATION.md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Diagram Is Born — Generation Pipeline</dc:title>
  <dc:subject>PptxGenJS Presentation</dc:subject>
  <dc:creator>Azure Architecture Diagram Builder</dc:creator>
  <cp:lastModifiedBy>Azure Architecture Diagram Builder</cp:lastModifiedBy>
  <cp:revision>1</cp:revision>
  <dcterms:created xsi:type="dcterms:W3CDTF">2026-10-21T18:44:52Z</dcterms:created>
  <dcterms:modified xsi:type="dcterms:W3CDTF">2026-10-21T18:44:52Z</dcterms:modified>
</cp:coreProperties>
</file>