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92575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579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46304" y="0"/>
            <a:ext cx="146304" cy="6858000"/>
          </a:xfrm>
          <a:prstGeom prst="rect">
            <a:avLst/>
          </a:prstGeom>
          <a:solidFill>
            <a:srgbClr val="2FD1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3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DIAGRAM GENERATION PIPELINE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a Diagram Is Born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48640" y="30632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natural-language prompt to a costed Azure architecture — every stage, end to end.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4114800"/>
            <a:ext cx="201168" cy="201168"/>
          </a:xfrm>
          <a:prstGeom prst="ellipse">
            <a:avLst/>
          </a:prstGeom>
          <a:solidFill>
            <a:srgbClr val="A579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41248" y="405993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decides 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4114800"/>
            <a:ext cx="201168" cy="201168"/>
          </a:xfrm>
          <a:prstGeom prst="ellipse">
            <a:avLst/>
          </a:prstGeom>
          <a:solidFill>
            <a:srgbClr val="2FD1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81728" y="405993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code decides visuals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Technical walkthrough for AI PSAs</a:t>
            </a:r>
            <a:r>
              <a:rPr lang="en-US" sz="125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•   Worked example: HIPAA-compliant Healthcare FHIR API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one idea that explains everything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never picks a pixel, an icon, or a price. It emits a strict JSON contract; deterministic engines do the rest.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18608" cy="4297680"/>
          </a:xfrm>
          <a:prstGeom prst="roundRect">
            <a:avLst>
              <a:gd name="adj" fmla="val 1702"/>
            </a:avLst>
          </a:prstGeom>
          <a:solidFill>
            <a:srgbClr val="1A2150"/>
          </a:solidFill>
          <a:ln w="12700">
            <a:solidFill>
              <a:srgbClr val="6D3F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18608" cy="640080"/>
          </a:xfrm>
          <a:prstGeom prst="rect">
            <a:avLst/>
          </a:prstGeom>
          <a:solidFill>
            <a:srgbClr val="6D3F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476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 ·  the semantic step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468880"/>
            <a:ext cx="467852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Interprets intent from natural language</a:t>
            </a:r>
            <a:endParaRPr lang="en-US" sz="14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Chooses which Azure services fit</a:t>
            </a:r>
            <a:endParaRPr lang="en-US" sz="14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Assigns services to logical groups</a:t>
            </a:r>
            <a:endParaRPr lang="en-US" sz="14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Declares connections + a workflow narrative</a:t>
            </a:r>
            <a:endParaRPr lang="en-US" sz="14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JSON only — no coordinates, no styling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24448" y="1600200"/>
            <a:ext cx="5318608" cy="4297680"/>
          </a:xfrm>
          <a:prstGeom prst="roundRect">
            <a:avLst>
              <a:gd name="adj" fmla="val 1702"/>
            </a:avLst>
          </a:prstGeom>
          <a:solidFill>
            <a:srgbClr val="1A2150"/>
          </a:solidFill>
          <a:ln w="12700">
            <a:solidFill>
              <a:srgbClr val="128E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324448" y="1600200"/>
            <a:ext cx="5318608" cy="640080"/>
          </a:xfrm>
          <a:prstGeom prst="rect">
            <a:avLst/>
          </a:prstGeom>
          <a:solidFill>
            <a:srgbClr val="128E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98768" y="1600200"/>
            <a:ext cx="476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 ·  the visual step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644488" y="2468880"/>
            <a:ext cx="467852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Normalizes names against a curated icon map</a:t>
            </a:r>
            <a:endParaRPr lang="en-US" sz="14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each service to a real Azure SVG</a:t>
            </a:r>
            <a:endParaRPr lang="en-US" sz="14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 groups as containers, typed edges</a:t>
            </a:r>
            <a:endParaRPr lang="en-US" sz="14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Computes every position (Dagre / ELK)</a:t>
            </a:r>
            <a:endParaRPr lang="en-US" sz="14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services from Azure Retail Prices data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it matters: reproducible, model-swappable, and correct-by-construction — not "AI magic."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pipeline: 10 stages, one JSON contract in the middle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stages run in the model. Teal stages run as deterministic code in the browser + token server.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984797" cy="1691640"/>
          </a:xfrm>
          <a:prstGeom prst="roundRect">
            <a:avLst>
              <a:gd name="adj" fmla="val 4324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984797" cy="91440"/>
          </a:xfrm>
          <a:prstGeom prst="rect">
            <a:avLst/>
          </a:prstGeom>
          <a:solidFill>
            <a:srgbClr val="889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13232" y="1755648"/>
            <a:ext cx="16556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892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13232" y="2267712"/>
            <a:ext cx="165561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13232" y="2862072"/>
            <a:ext cx="16556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826045" y="1554480"/>
            <a:ext cx="1984797" cy="1691640"/>
          </a:xfrm>
          <a:prstGeom prst="roundRect">
            <a:avLst>
              <a:gd name="adj" fmla="val 4324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826045" y="1554480"/>
            <a:ext cx="1984797" cy="91440"/>
          </a:xfrm>
          <a:prstGeom prst="rect">
            <a:avLst/>
          </a:prstGeom>
          <a:solidFill>
            <a:srgbClr val="A579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990637" y="1755648"/>
            <a:ext cx="16556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990637" y="2267712"/>
            <a:ext cx="165561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assembly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990637" y="2862072"/>
            <a:ext cx="16556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103449" y="1554480"/>
            <a:ext cx="1984797" cy="1691640"/>
          </a:xfrm>
          <a:prstGeom prst="roundRect">
            <a:avLst>
              <a:gd name="adj" fmla="val 4324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103449" y="1554480"/>
            <a:ext cx="1984797" cy="91440"/>
          </a:xfrm>
          <a:prstGeom prst="rect">
            <a:avLst/>
          </a:prstGeom>
          <a:solidFill>
            <a:srgbClr val="A579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268041" y="1755648"/>
            <a:ext cx="16556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8041" y="2267712"/>
            <a:ext cx="165561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call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8041" y="2862072"/>
            <a:ext cx="16556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380854" y="1554480"/>
            <a:ext cx="1984797" cy="1691640"/>
          </a:xfrm>
          <a:prstGeom prst="roundRect">
            <a:avLst>
              <a:gd name="adj" fmla="val 4324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380854" y="1554480"/>
            <a:ext cx="1984797" cy="91440"/>
          </a:xfrm>
          <a:prstGeom prst="rect">
            <a:avLst/>
          </a:prstGeom>
          <a:solidFill>
            <a:srgbClr val="A579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545446" y="1755648"/>
            <a:ext cx="16556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545446" y="2267712"/>
            <a:ext cx="165561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contract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545446" y="2862072"/>
            <a:ext cx="16556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658259" y="1554480"/>
            <a:ext cx="1984797" cy="1691640"/>
          </a:xfrm>
          <a:prstGeom prst="roundRect">
            <a:avLst>
              <a:gd name="adj" fmla="val 4324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658259" y="1554480"/>
            <a:ext cx="1984797" cy="91440"/>
          </a:xfrm>
          <a:prstGeom prst="rect">
            <a:avLst/>
          </a:prstGeom>
          <a:solidFill>
            <a:srgbClr val="2FD1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822851" y="1755648"/>
            <a:ext cx="16556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822851" y="2267712"/>
            <a:ext cx="165561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 + normalize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822851" y="2862072"/>
            <a:ext cx="16556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" y="3703320"/>
            <a:ext cx="1984797" cy="1691640"/>
          </a:xfrm>
          <a:prstGeom prst="roundRect">
            <a:avLst>
              <a:gd name="adj" fmla="val 4324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48640" y="3703320"/>
            <a:ext cx="1984797" cy="91440"/>
          </a:xfrm>
          <a:prstGeom prst="rect">
            <a:avLst/>
          </a:prstGeom>
          <a:solidFill>
            <a:srgbClr val="2FD1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13232" y="3904488"/>
            <a:ext cx="16556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13232" y="4416552"/>
            <a:ext cx="165561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Icon resolution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13232" y="5010912"/>
            <a:ext cx="16556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26045" y="3703320"/>
            <a:ext cx="1984797" cy="1691640"/>
          </a:xfrm>
          <a:prstGeom prst="roundRect">
            <a:avLst>
              <a:gd name="adj" fmla="val 4324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2826045" y="3703320"/>
            <a:ext cx="1984797" cy="91440"/>
          </a:xfrm>
          <a:prstGeom prst="rect">
            <a:avLst/>
          </a:prstGeom>
          <a:solidFill>
            <a:srgbClr val="2FD1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2990637" y="3904488"/>
            <a:ext cx="16556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2990637" y="4416552"/>
            <a:ext cx="165561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 / zones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2990637" y="5010912"/>
            <a:ext cx="16556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103449" y="3703320"/>
            <a:ext cx="1984797" cy="1691640"/>
          </a:xfrm>
          <a:prstGeom prst="roundRect">
            <a:avLst>
              <a:gd name="adj" fmla="val 4324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103449" y="3703320"/>
            <a:ext cx="1984797" cy="91440"/>
          </a:xfrm>
          <a:prstGeom prst="rect">
            <a:avLst/>
          </a:prstGeom>
          <a:solidFill>
            <a:srgbClr val="2FD1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268041" y="3904488"/>
            <a:ext cx="16556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5268041" y="4416552"/>
            <a:ext cx="165561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Edges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5268041" y="5010912"/>
            <a:ext cx="16556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7380854" y="3703320"/>
            <a:ext cx="1984797" cy="1691640"/>
          </a:xfrm>
          <a:prstGeom prst="roundRect">
            <a:avLst>
              <a:gd name="adj" fmla="val 4324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7380854" y="3703320"/>
            <a:ext cx="1984797" cy="91440"/>
          </a:xfrm>
          <a:prstGeom prst="rect">
            <a:avLst/>
          </a:prstGeom>
          <a:solidFill>
            <a:srgbClr val="2FD1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7545446" y="3904488"/>
            <a:ext cx="16556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7545446" y="4416552"/>
            <a:ext cx="165561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Layout engine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7545446" y="5010912"/>
            <a:ext cx="16556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9658259" y="3703320"/>
            <a:ext cx="1984797" cy="1691640"/>
          </a:xfrm>
          <a:prstGeom prst="roundRect">
            <a:avLst>
              <a:gd name="adj" fmla="val 4324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9658259" y="3703320"/>
            <a:ext cx="1984797" cy="91440"/>
          </a:xfrm>
          <a:prstGeom prst="rect">
            <a:avLst/>
          </a:prstGeom>
          <a:solidFill>
            <a:srgbClr val="2FD1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9822851" y="3904488"/>
            <a:ext cx="16556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9822851" y="4416552"/>
            <a:ext cx="165561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Costing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9822851" y="5010912"/>
            <a:ext cx="16556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70432"/>
            <a:ext cx="1060064" cy="109728"/>
          </a:xfrm>
          <a:prstGeom prst="rect">
            <a:avLst/>
          </a:prstGeom>
          <a:solidFill>
            <a:srgbClr val="889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6356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78496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893424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08352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12328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23820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353135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468063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0582991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78638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8892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01  </a:t>
            </a:r>
            <a:r>
              <a:rPr lang="en-US" sz="1100" kern="0" spc="1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14173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 — one prompt, four entry points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" y="2148840"/>
            <a:ext cx="5212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is the primary path — free-form intent, no schema required.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input is transcribed (Azure Speech) into the same prompt box.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deterministic entry points skip the model entirely:</a:t>
            </a:r>
            <a:endParaRPr lang="en-US" sz="1500" dirty="0"/>
          </a:p>
          <a:p>
            <a:pPr marL="685800" lvl="1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Template — ARM JSON parsed directly (&lt;1s)</a:t>
            </a:r>
            <a:endParaRPr lang="en-US" sz="1500" dirty="0"/>
          </a:p>
          <a:p>
            <a:pPr marL="685800" lvl="1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from Azure — live Resource Graph of a resource group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converges on the same architecture object downstream.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2103120"/>
            <a:ext cx="5425135" cy="3977640"/>
          </a:xfrm>
          <a:prstGeom prst="roundRect">
            <a:avLst>
              <a:gd name="adj" fmla="val 1839"/>
            </a:avLst>
          </a:prstGeom>
          <a:solidFill>
            <a:srgbClr val="141A40"/>
          </a:solidFill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46520" y="2249424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00" dirty="0">
                <a:solidFill>
                  <a:srgbClr val="8892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 PROMPT (ACTUAL)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46520" y="2578608"/>
            <a:ext cx="4967935" cy="0"/>
          </a:xfrm>
          <a:prstGeom prst="line">
            <a:avLst/>
          </a:prstGeom>
          <a:noFill/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46520" y="2670048"/>
            <a:ext cx="496793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 HIPAA-compliant healthcare data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platform integrating EHR systems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via HL7 FHIR R4 APIs, PACS/DICOM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imaging (500TB), clinical decision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support, patient portal + secure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messaging, PHI audit logging,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15-min RPO DR…"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sent verbatim as the user message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63568" y="1170432"/>
            <a:ext cx="1060064" cy="109728"/>
          </a:xfrm>
          <a:prstGeom prst="rect">
            <a:avLst/>
          </a:prstGeom>
          <a:solidFill>
            <a:srgbClr val="A579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78496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893424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08352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12328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23820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353135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468063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0582991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78638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02  </a:t>
            </a:r>
            <a:r>
              <a:rPr lang="en-US" sz="1100" kern="0" spc="1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14173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assembly — the system prompt does the heavy lifting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" y="2148840"/>
            <a:ext cx="5212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"expert Azure cloud architect… return a JSON specification."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Known-services catalog injected from SERVICE_ICON_MAP so the model uses exact display names.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Icon-category vocabulary (17 categories) constrains the "category" field.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rules encode Microsoft-reference-architecture conventions: grouping, edge budget, hub-and-spoke monitoring, service caps.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output JSON schema is spelled out inline.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2103120"/>
            <a:ext cx="5425135" cy="3977640"/>
          </a:xfrm>
          <a:prstGeom prst="roundRect">
            <a:avLst>
              <a:gd name="adj" fmla="val 1839"/>
            </a:avLst>
          </a:prstGeom>
          <a:solidFill>
            <a:srgbClr val="141A40"/>
          </a:solidFill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46520" y="2249424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00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PROMPT (EXCERPT)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46520" y="2578608"/>
            <a:ext cx="4967935" cy="0"/>
          </a:xfrm>
          <a:prstGeom prst="line">
            <a:avLst/>
          </a:prstGeom>
          <a:noFill/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46520" y="2670048"/>
            <a:ext cx="496793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NOT include position, x, y,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width or height — the layout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 calculates positions.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 (excerpt):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 Create 2-5 logical groups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 Use "Microsoft Entra ID"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 Hub-and-spoke for monitoring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Limit connections to 12-18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Total services: 8-12 max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6356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78496" y="1170432"/>
            <a:ext cx="1060064" cy="109728"/>
          </a:xfrm>
          <a:prstGeom prst="rect">
            <a:avLst/>
          </a:prstGeom>
          <a:solidFill>
            <a:srgbClr val="A579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893424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08352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12328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23820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353135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468063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0582991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78638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03  </a:t>
            </a:r>
            <a:r>
              <a:rPr lang="en-US" sz="1100" kern="0" spc="1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14173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call — proxied, model-agnostic, JSON-only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" y="2148840"/>
            <a:ext cx="5212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never holds the API key. All traffic goes through the token server at /api/openai (the security boundary).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selectable models (GPT-5.x, DeepSeek, Grok, Mistral, Kimi) — the pipeline is identical regardless of model.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+ user messages are sent; JSON output is requested.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+ token metrics are captured and attached to the result for the leaderboard.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2103120"/>
            <a:ext cx="5425135" cy="3977640"/>
          </a:xfrm>
          <a:prstGeom prst="roundRect">
            <a:avLst>
              <a:gd name="adj" fmla="val 1839"/>
            </a:avLst>
          </a:prstGeom>
          <a:solidFill>
            <a:srgbClr val="141A40"/>
          </a:solidFill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46520" y="2249424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00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 SHAPE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46520" y="2578608"/>
            <a:ext cx="4967935" cy="0"/>
          </a:xfrm>
          <a:prstGeom prst="line">
            <a:avLst/>
          </a:prstGeom>
          <a:noFill/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46520" y="2670048"/>
            <a:ext cx="496793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/api/openai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messages: [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role: "system", content: … },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role: "user",   content: prompt }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2B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stays server-side  ✔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2B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swappable         ✔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6356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78496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893424" y="1170432"/>
            <a:ext cx="1060064" cy="109728"/>
          </a:xfrm>
          <a:prstGeom prst="rect">
            <a:avLst/>
          </a:prstGeom>
          <a:solidFill>
            <a:srgbClr val="A579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08352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12328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23820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353135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468063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0582991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78638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04  </a:t>
            </a:r>
            <a:r>
              <a:rPr lang="en-US" sz="1100" kern="0" spc="1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14173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JSON contract — four sections, zero coordinates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" y="2148840"/>
            <a:ext cx="5212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— logical containers (id + label only).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— id, name, type, category, description, groupId.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— from, to, label, type (sync/async/optional).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— ordered steps, each listing the service IDs involved.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2FD1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contract is the single hand-off from "AI" to "code." Everything after here is deterministic.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2103120"/>
            <a:ext cx="5425135" cy="3977640"/>
          </a:xfrm>
          <a:prstGeom prst="roundRect">
            <a:avLst>
              <a:gd name="adj" fmla="val 1839"/>
            </a:avLst>
          </a:prstGeom>
          <a:solidFill>
            <a:srgbClr val="141A40"/>
          </a:solidFill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46520" y="2249424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00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SCHEMA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46520" y="2578608"/>
            <a:ext cx="4967935" cy="0"/>
          </a:xfrm>
          <a:prstGeom prst="line">
            <a:avLst/>
          </a:prstGeom>
          <a:noFill/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46520" y="2670048"/>
            <a:ext cx="496793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"groups":      [{ id, label }],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"services":    [{ id, name, type,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category, groupId }],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"connections": [{ from, to, label,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type }],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"workflow":    [{ step, description,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services:[…] }]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 x, y, width, height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6356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78496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893424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08352" y="1170432"/>
            <a:ext cx="1060064" cy="109728"/>
          </a:xfrm>
          <a:prstGeom prst="rect">
            <a:avLst/>
          </a:prstGeom>
          <a:solidFill>
            <a:srgbClr val="2FD1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12328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23820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353135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468063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0582991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78638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05  </a:t>
            </a:r>
            <a:r>
              <a:rPr lang="en-US" sz="1100" kern="0" spc="1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14173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 + normalize — trust, but verify the model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" y="2148840"/>
            <a:ext cx="5212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JSON.parse with strict error handling; malformed output is rejected, not rendered.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service is matched against SERVICE_ICON_MAP by name, then by type.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match, the code overwrites name, type and category with the curated canonical values — so a diagram is consistent even if the model is loose.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matching catches near-misses (e.g. "FHIR service" → Azure Health Data Services).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2103120"/>
            <a:ext cx="5425135" cy="3977640"/>
          </a:xfrm>
          <a:prstGeom prst="roundRect">
            <a:avLst>
              <a:gd name="adj" fmla="val 1839"/>
            </a:avLst>
          </a:prstGeom>
          <a:solidFill>
            <a:srgbClr val="141A40"/>
          </a:solidFill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46520" y="2249424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NORMALIZATION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46520" y="2578608"/>
            <a:ext cx="4967935" cy="0"/>
          </a:xfrm>
          <a:prstGeom prst="line">
            <a:avLst/>
          </a:prstGeom>
          <a:noFill/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46520" y="2670048"/>
            <a:ext cx="496793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mapping = getServiceIconMapping(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service.name) ||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getServiceIconMapping(service.type)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(mapping) {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= mapping.displayName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category = mapping.category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2B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🔧 "FHIR API" → Azure Health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2B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Data Services (databases)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6356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78496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893424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08352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123280" y="1170432"/>
            <a:ext cx="1060064" cy="109728"/>
          </a:xfrm>
          <a:prstGeom prst="rect">
            <a:avLst/>
          </a:prstGeom>
          <a:solidFill>
            <a:srgbClr val="2FD1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23820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353135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468063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0582991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78638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06  </a:t>
            </a:r>
            <a:r>
              <a:rPr lang="en-US" sz="1100" kern="0" spc="1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14173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Icon resolution — the official Azure icon set, not clip-art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" y="2148840"/>
            <a:ext cx="5212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icon map holds { displayName, category, iconFile } per service.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SVG path is built deterministically from category + iconFile.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714 official Azure SVG icons across 29 category folders are glob-loaded at build time.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category is validated upstream, every node gets a real, correct product icon — no guessing at render time.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2103120"/>
            <a:ext cx="5425135" cy="3977640"/>
          </a:xfrm>
          <a:prstGeom prst="roundRect">
            <a:avLst>
              <a:gd name="adj" fmla="val 1839"/>
            </a:avLst>
          </a:prstGeom>
          <a:solidFill>
            <a:srgbClr val="141A40"/>
          </a:solidFill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46520" y="2249424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RESOLUTION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46520" y="2578608"/>
            <a:ext cx="4967935" cy="0"/>
          </a:xfrm>
          <a:prstGeom prst="line">
            <a:avLst/>
          </a:prstGeom>
          <a:noFill/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46520" y="2670048"/>
            <a:ext cx="496793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/Azure_Public_Service_Icons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/Icons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/{category}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/{iconFile}.svg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e.g. databases/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10142-icon-service-Azure-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API-for-FHIR.svg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2B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714 icons · 29 categories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6356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78496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893424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08352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12328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238208" y="1170432"/>
            <a:ext cx="1060064" cy="109728"/>
          </a:xfrm>
          <a:prstGeom prst="rect">
            <a:avLst/>
          </a:prstGeom>
          <a:solidFill>
            <a:srgbClr val="2FD1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353135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468063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0582991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78638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07  </a:t>
            </a:r>
            <a:r>
              <a:rPr lang="en-US" sz="1100" kern="0" spc="1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14173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 &amp; zones — structure the model already chose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" y="2148840"/>
            <a:ext cx="5212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service carries a groupId; groups become compound container nodes.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rules shape the topology: 2-5 groups, max 6 services each.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flow is enforced: Ingress/Edge → Application → Data, left-to-right.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Cross-cutting zones are pinned: Identity/Security bottom-left, Monitoring bottom-right.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Tightly-coupled services are kept in the same group to minimize cross-group clutter.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2103120"/>
            <a:ext cx="5425135" cy="3977640"/>
          </a:xfrm>
          <a:prstGeom prst="roundRect">
            <a:avLst>
              <a:gd name="adj" fmla="val 1839"/>
            </a:avLst>
          </a:prstGeom>
          <a:solidFill>
            <a:srgbClr val="141A40"/>
          </a:solidFill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46520" y="2249424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ACTUAL GROUPS (FHIR EXAMPLE)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46520" y="2578608"/>
            <a:ext cx="4967935" cy="0"/>
          </a:xfrm>
          <a:prstGeom prst="line">
            <a:avLst/>
          </a:prstGeom>
          <a:noFill/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46520" y="2670048"/>
            <a:ext cx="496793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Ingress and Patient Access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 Service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Application and Clinical Workflows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Azure Functions, Logic Apps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Healthcare Data and Storage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FHIR API, DICOM, Cosmos DB, Storage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Identity and Security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Entra ID, Key Vault, Defender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Monitoring and Observability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Azure Monitor, Log Analytics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6356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78496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893424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08352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12328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23820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353135" y="1170432"/>
            <a:ext cx="1060064" cy="109728"/>
          </a:xfrm>
          <a:prstGeom prst="rect">
            <a:avLst/>
          </a:prstGeom>
          <a:solidFill>
            <a:srgbClr val="2FD1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468063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0582991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78638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08  </a:t>
            </a:r>
            <a:r>
              <a:rPr lang="en-US" sz="1100" kern="0" spc="1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14173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Edges — typed, budgeted, and styled by meaning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" y="2148840"/>
            <a:ext cx="5212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connection becomes a React Flow edge from source to target node.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type drives the visual style — no manual styling needed:</a:t>
            </a:r>
            <a:endParaRPr lang="en-US" sz="1500" dirty="0"/>
          </a:p>
          <a:p>
            <a:pPr marL="685800" lvl="1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→ solid (HTTP/SQL) · async → dashed (queues/events) · optional → dotted (fallback)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must be action-oriented ("Submit FHIR bundle"), never generic ("data").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12-18 edge budget + hub-and-spoke monitoring keeps the graph legible.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2103120"/>
            <a:ext cx="5425135" cy="3977640"/>
          </a:xfrm>
          <a:prstGeom prst="roundRect">
            <a:avLst>
              <a:gd name="adj" fmla="val 1839"/>
            </a:avLst>
          </a:prstGeom>
          <a:solidFill>
            <a:srgbClr val="141A40"/>
          </a:solidFill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46520" y="2249424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 TYPES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46520" y="2578608"/>
            <a:ext cx="4967935" cy="0"/>
          </a:xfrm>
          <a:prstGeom prst="line">
            <a:avLst/>
          </a:prstGeom>
          <a:noFill/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46520" y="2670048"/>
            <a:ext cx="496793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      ───────  solid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    — — — —  dashed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optional  · · · ·  dotted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2B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Monitoring pattern: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compute → Azure Monitor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→ Log Analytics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(one hub edge, not N edges)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6356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78496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893424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08352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12328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23820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353135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468063" y="1170432"/>
            <a:ext cx="1060064" cy="109728"/>
          </a:xfrm>
          <a:prstGeom prst="rect">
            <a:avLst/>
          </a:prstGeom>
          <a:solidFill>
            <a:srgbClr val="2FD1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0582991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78638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09  </a:t>
            </a:r>
            <a:r>
              <a:rPr lang="en-US" sz="1100" kern="0" spc="1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14173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Layout — where every pixel actually comes from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" y="2148840"/>
            <a:ext cx="5212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supplies zero coordinates; the layout engine computes them all.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Dagre (default): hierarchical, compound-node graph. Services nest inside their group; rankdir + nodesep/ranksep set the flow.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 (alternative): layered algorithm for denser graphs — same interface, swappable.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presets + a re-layout action let users re-flow without regenerating.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2103120"/>
            <a:ext cx="5425135" cy="3977640"/>
          </a:xfrm>
          <a:prstGeom prst="roundRect">
            <a:avLst>
              <a:gd name="adj" fmla="val 1839"/>
            </a:avLst>
          </a:prstGeom>
          <a:solidFill>
            <a:srgbClr val="141A40"/>
          </a:solidFill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46520" y="2249424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DAGRE CONFIG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46520" y="2578608"/>
            <a:ext cx="4967935" cy="0"/>
          </a:xfrm>
          <a:prstGeom prst="line">
            <a:avLst/>
          </a:prstGeom>
          <a:noFill/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46520" y="2670048"/>
            <a:ext cx="496793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 = new dagre.graphlib.Graph(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{ compound: true })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g.setGraph({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rankdir:  "LR",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nodesep:  …,  ranksep: …,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g.setParent(svc.id, group.id)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g.setEdge(conn.from, conn.to)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2B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Dagre  |  ELK  — swappable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66356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78496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893424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08352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12328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23820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353135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468063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0582991" y="1170432"/>
            <a:ext cx="1060064" cy="109728"/>
          </a:xfrm>
          <a:prstGeom prst="rect">
            <a:avLst/>
          </a:prstGeom>
          <a:solidFill>
            <a:srgbClr val="2FD1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78638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10  </a:t>
            </a:r>
            <a:r>
              <a:rPr lang="en-US" sz="1100" kern="0" spc="1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14173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Costing — grounded in Azure Retail Prices, per region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" y="2148840"/>
            <a:ext cx="5212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normalized service maps to a pricing meter from Azure Retail Prices snapshots.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data ships per region (8 regions) as local JSON — fast, offline, deterministic.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calculateMonthlyCost sums PAYG estimates; 1-year Reserved is shown side-by-side.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Fabric bills at the shared F-SKU capacity; OneLake storage is separate.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updates live as you change region or edit the diagram.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2103120"/>
            <a:ext cx="5425135" cy="3977640"/>
          </a:xfrm>
          <a:prstGeom prst="roundRect">
            <a:avLst>
              <a:gd name="adj" fmla="val 1839"/>
            </a:avLst>
          </a:prstGeom>
          <a:solidFill>
            <a:srgbClr val="141A40"/>
          </a:solidFill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46520" y="2249424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kern="0" spc="1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PRICING LOOKUP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46520" y="2578608"/>
            <a:ext cx="4967935" cy="0"/>
          </a:xfrm>
          <a:prstGeom prst="line">
            <a:avLst/>
          </a:prstGeom>
          <a:noFill/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46520" y="2670048"/>
            <a:ext cx="496793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src/data/pricing/regions/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eastus2/azure_api_for_fhir.json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"retailPrice": 0.25,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"unitOfMeasure": "1 Hour",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"armRegionName": "eastus2" }</a:t>
            </a: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endParaRPr lang="en-US" sz="1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2B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regions · PAYG + 1-yr reserved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althcare-fhi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-218440"/>
            <a:ext cx="1158180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20040" y="274320"/>
            <a:ext cx="6309360" cy="566928"/>
          </a:xfrm>
          <a:prstGeom prst="roundRect">
            <a:avLst>
              <a:gd name="adj" fmla="val 12903"/>
            </a:avLst>
          </a:prstGeom>
          <a:solidFill>
            <a:srgbClr val="0A0E24">
              <a:alpha val="86000"/>
            </a:srgbClr>
          </a:solidFill>
          <a:ln w="12700">
            <a:solidFill>
              <a:srgbClr val="2FD1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502920" y="27432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WORKED EXAMPLE   </a:t>
            </a:r>
            <a:r>
              <a:rPr lang="en-US" sz="1250" kern="0" spc="1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Healthcare FHIR — real exported diagram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0" y="6071616"/>
            <a:ext cx="12191695" cy="786384"/>
          </a:xfrm>
          <a:prstGeom prst="rect">
            <a:avLst/>
          </a:prstGeom>
          <a:solidFill>
            <a:srgbClr val="0A0E24">
              <a:alpha val="9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0" y="6071616"/>
            <a:ext cx="12191695" cy="45720"/>
          </a:xfrm>
          <a:prstGeom prst="rect">
            <a:avLst/>
          </a:prstGeom>
          <a:solidFill>
            <a:srgbClr val="F2B0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6089904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B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$287</a:t>
            </a:r>
            <a:r>
              <a:rPr lang="en-US" sz="12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/mo PAYG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2880360" y="6071616"/>
            <a:ext cx="8138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US 2</a:t>
            </a:r>
            <a:r>
              <a:rPr lang="en-US" sz="12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12 services  ·  5 groups  ·  14 edges (9 sync / 5 async)</a:t>
            </a:r>
            <a:r>
              <a:rPr lang="en-US" sz="120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Azure Retail Prices snapshot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094415" y="6071616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16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577900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DICOM tier unpriced in this snapshot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 does what — the boundary, stage by stage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94415" cy="457200"/>
          </a:xfrm>
          <a:prstGeom prst="rect">
            <a:avLst/>
          </a:prstGeom>
          <a:solidFill>
            <a:srgbClr val="1A2150"/>
          </a:solidFill>
          <a:ln w="635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85800" y="1234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926080" y="12344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57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(purple)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766560" y="123444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FD1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code (teal)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solidFill>
            <a:srgbClr val="141A40"/>
          </a:solidFill>
          <a:ln w="635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1691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926080" y="16916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766560" y="169164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prompt / template / ARG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148840"/>
            <a:ext cx="11094415" cy="457200"/>
          </a:xfrm>
          <a:prstGeom prst="rect">
            <a:avLst/>
          </a:prstGeom>
          <a:solidFill>
            <a:srgbClr val="0E1330"/>
          </a:solidFill>
          <a:ln w="635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8580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assembly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926080" y="21488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rules + schema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766560" y="214884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system prompt from icon map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606040"/>
            <a:ext cx="11094415" cy="457200"/>
          </a:xfrm>
          <a:prstGeom prst="rect">
            <a:avLst/>
          </a:prstGeom>
          <a:solidFill>
            <a:srgbClr val="141A40"/>
          </a:solidFill>
          <a:ln w="635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5800" y="2606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call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926080" y="26060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Infers architecture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766560" y="260604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 key, capture metrics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063240"/>
            <a:ext cx="11094415" cy="457200"/>
          </a:xfrm>
          <a:prstGeom prst="rect">
            <a:avLst/>
          </a:prstGeom>
          <a:solidFill>
            <a:srgbClr val="0E1330"/>
          </a:solidFill>
          <a:ln w="635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85800" y="3063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contract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926080" y="30632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Emits groups/services/edges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766560" y="306324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JSON shape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3520440"/>
            <a:ext cx="11094415" cy="457200"/>
          </a:xfrm>
          <a:prstGeom prst="rect">
            <a:avLst/>
          </a:prstGeom>
          <a:solidFill>
            <a:srgbClr val="141A40"/>
          </a:solidFill>
          <a:ln w="635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85800" y="3520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Normalize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926080" y="35204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766560" y="352044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Canonicalize names + categories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3977640"/>
            <a:ext cx="11094415" cy="457200"/>
          </a:xfrm>
          <a:prstGeom prst="rect">
            <a:avLst/>
          </a:prstGeom>
          <a:solidFill>
            <a:srgbClr val="0E1330"/>
          </a:solidFill>
          <a:ln w="635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85800" y="3977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Icons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926080" y="39776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766560" y="397764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category → real SVG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4434840"/>
            <a:ext cx="11094415" cy="457200"/>
          </a:xfrm>
          <a:prstGeom prst="rect">
            <a:avLst/>
          </a:prstGeom>
          <a:solidFill>
            <a:srgbClr val="141A40"/>
          </a:solidFill>
          <a:ln w="635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85800" y="4434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 &amp; edges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926080" y="44348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 grouping + flows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766560" y="443484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containers + typed edges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" y="4892040"/>
            <a:ext cx="11094415" cy="457200"/>
          </a:xfrm>
          <a:prstGeom prst="rect">
            <a:avLst/>
          </a:prstGeom>
          <a:solidFill>
            <a:srgbClr val="0E1330"/>
          </a:solidFill>
          <a:ln w="635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85800" y="4892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Layout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2926080" y="48920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766560" y="489204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all positions (Dagre/ELK)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solidFill>
            <a:srgbClr val="141A40"/>
          </a:solidFill>
          <a:ln w="635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85800" y="5349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Costing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2926080" y="53492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766560" y="534924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to Retail Prices, sum monthly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2898648" y="1234440"/>
            <a:ext cx="27432" cy="4572000"/>
          </a:xfrm>
          <a:prstGeom prst="rect">
            <a:avLst/>
          </a:prstGeom>
          <a:solidFill>
            <a:srgbClr val="A579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739128" y="1234440"/>
            <a:ext cx="27432" cy="4572000"/>
          </a:xfrm>
          <a:prstGeom prst="rect">
            <a:avLst/>
          </a:prstGeom>
          <a:solidFill>
            <a:srgbClr val="2FD1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D1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46304" y="0"/>
            <a:ext cx="146304" cy="6858000"/>
          </a:xfrm>
          <a:prstGeom prst="rect">
            <a:avLst/>
          </a:prstGeom>
          <a:solidFill>
            <a:srgbClr val="A579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3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THIS DESIGN WINS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contract is the product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318608" cy="1371600"/>
          </a:xfrm>
          <a:prstGeom prst="roundRect">
            <a:avLst>
              <a:gd name="adj" fmla="val 5333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91440" cy="1371600"/>
          </a:xfrm>
          <a:prstGeom prst="rect">
            <a:avLst/>
          </a:prstGeom>
          <a:solidFill>
            <a:srgbClr val="2FD1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269748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Reproducible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3108960"/>
            <a:ext cx="4769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JSON → same diagram, every time. No render-time guessing.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24448" y="2514600"/>
            <a:ext cx="5318608" cy="1371600"/>
          </a:xfrm>
          <a:prstGeom prst="roundRect">
            <a:avLst>
              <a:gd name="adj" fmla="val 5333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324448" y="2514600"/>
            <a:ext cx="91440" cy="1371600"/>
          </a:xfrm>
          <a:prstGeom prst="rect">
            <a:avLst/>
          </a:prstGeom>
          <a:solidFill>
            <a:srgbClr val="A579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644488" y="269748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Model-swappable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44488" y="3108960"/>
            <a:ext cx="4769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models flow through one pipeline; swap models freely.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206240"/>
            <a:ext cx="5318608" cy="1371600"/>
          </a:xfrm>
          <a:prstGeom prst="roundRect">
            <a:avLst>
              <a:gd name="adj" fmla="val 5333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91440" cy="1371600"/>
          </a:xfrm>
          <a:prstGeom prst="rect">
            <a:avLst/>
          </a:prstGeom>
          <a:solidFill>
            <a:srgbClr val="2FD1C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68680" y="438912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Correct by construction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68680" y="4800600"/>
            <a:ext cx="4769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icon map + validation beat model hallucination.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24448" y="4206240"/>
            <a:ext cx="5318608" cy="1371600"/>
          </a:xfrm>
          <a:prstGeom prst="roundRect">
            <a:avLst>
              <a:gd name="adj" fmla="val 5333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324448" y="4206240"/>
            <a:ext cx="91440" cy="1371600"/>
          </a:xfrm>
          <a:prstGeom prst="rect">
            <a:avLst/>
          </a:prstGeom>
          <a:solidFill>
            <a:srgbClr val="A579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644488" y="438912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 where it counts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644488" y="4800600"/>
            <a:ext cx="4769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 &amp; Resource Graph imports skip the model — sub-second.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1264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 dives: DOCS/LLM_PROMPT_DOCUMENTATION.md · DOCS/ARCHITECTURE.md · DOCS/LAYOUT_ENGINES_COMPARISON.md · DOCS/REGIONAL_PRICING_IMPLEMENTATION.md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1952</Words>
  <Application>Microsoft Macintosh PowerPoint</Application>
  <PresentationFormat>Widescreen</PresentationFormat>
  <Paragraphs>312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 Diagram Is Born — Generation Pipeline</dc:title>
  <dc:subject>PptxGenJS Presentation</dc:subject>
  <dc:creator>Azure Architecture Diagram Builder</dc:creator>
  <cp:lastModifiedBy>System Administrator</cp:lastModifiedBy>
  <cp:revision>2</cp:revision>
  <dcterms:created xsi:type="dcterms:W3CDTF">2026-07-17T00:02:03Z</dcterms:created>
  <dcterms:modified xsi:type="dcterms:W3CDTF">2026-07-17T00:03:08Z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2026-07-17T00:03:08Z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a172a259-b1c7-4944-b2e1-6d551f954711</vt:lpwstr>
  </property>
  <property fmtid="{D5CDD505-2E9C-101B-9397-08002B2CF9AE}" pid="7" name="MSIP_Label_defa4170-0d19-0005-0004-bc88714345d2_ActionId">
    <vt:lpwstr>0b051e5e-de7d-4b92-ba2a-78802e1d2c4e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50, 3, 0, 1</vt:lpwstr>
  </property>
</Properties>
</file>