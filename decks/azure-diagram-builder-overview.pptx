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Feature events — independent counts, not a funnel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Events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Architectures</c:v>
                  </c:pt>
                  <c:pt idx="1">
                    <c:v>Exports</c:v>
                  </c:pt>
                  <c:pt idx="2">
                    <c:v>WAF validations</c:v>
                  </c:pt>
                  <c:pt idx="3">
                    <c:v>Region changes</c:v>
                  </c:pt>
                  <c:pt idx="4">
                    <c:v>Image imports</c:v>
                  </c:pt>
                  <c:pt idx="5">
                    <c:v>Deploy guides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1376</c:v>
                </c:pt>
                <c:pt idx="1">
                  <c:v>832</c:v>
                </c:pt>
                <c:pt idx="2">
                  <c:v>253</c:v>
                </c:pt>
                <c:pt idx="3">
                  <c:v>201</c:v>
                </c:pt>
                <c:pt idx="4">
                  <c:v>90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B8C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Selected export events · latest complete 30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Exports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JSON</c:v>
                  </c:pt>
                  <c:pt idx="1">
                    <c:v>PNG</c:v>
                  </c:pt>
                  <c:pt idx="2">
                    <c:v>PowerPoint</c:v>
                  </c:pt>
                  <c:pt idx="3">
                    <c:v>SVG</c:v>
                  </c:pt>
                  <c:pt idx="4">
                    <c:v>Animated SVG</c:v>
                  </c:pt>
                  <c:pt idx="5">
                    <c:v>Draw.io</c:v>
                  </c:pt>
                  <c:pt idx="6">
                    <c:v>Visio</c:v>
                  </c:pt>
                  <c:pt idx="7">
                    <c:v>Workflow animation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209</c:v>
                </c:pt>
                <c:pt idx="1">
                  <c:v>155</c:v>
                </c:pt>
                <c:pt idx="2">
                  <c:v>81</c:v>
                </c:pt>
                <c:pt idx="3">
                  <c:v>84</c:v>
                </c:pt>
                <c:pt idx="4">
                  <c:v>80</c:v>
                </c:pt>
                <c:pt idx="5">
                  <c:v>59</c:v>
                </c:pt>
                <c:pt idx="6">
                  <c:v>47</c:v>
                </c:pt>
                <c:pt idx="7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B8C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Top server model traffic · latest complete 30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2EC5C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GPT-5.6 Luna</c:v>
                  </c:pt>
                  <c:pt idx="1">
                    <c:v>GPT-5.6 Sol</c:v>
                  </c:pt>
                  <c:pt idx="2">
                    <c:v>GPT-5.6 Terra</c:v>
                  </c:pt>
                  <c:pt idx="3">
                    <c:v>GPT-5.4 Mini</c:v>
                  </c:pt>
                  <c:pt idx="4">
                    <c:v>DeepSeek V4 Pro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1559</c:v>
                </c:pt>
                <c:pt idx="1">
                  <c:v>1051</c:v>
                </c:pt>
                <c:pt idx="2">
                  <c:v>69</c:v>
                </c:pt>
                <c:pt idx="3">
                  <c:v>57</c:v>
                </c:pt>
                <c:pt idx="4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0" y="1143000"/>
            <a:ext cx="1280160" cy="640080"/>
          </a:xfrm>
          <a:prstGeom prst="line">
            <a:avLst/>
          </a:prstGeom>
          <a:noFill/>
          <a:ln w="25400">
            <a:solidFill>
              <a:srgbClr val="2445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0" y="1143000"/>
            <a:ext cx="1280160" cy="0"/>
          </a:xfrm>
          <a:prstGeom prst="line">
            <a:avLst/>
          </a:prstGeom>
          <a:noFill/>
          <a:ln w="25400">
            <a:solidFill>
              <a:srgbClr val="2445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46920" y="1005840"/>
            <a:ext cx="310896" cy="310896"/>
          </a:xfrm>
          <a:prstGeom prst="ellipse">
            <a:avLst/>
          </a:prstGeom>
          <a:solidFill>
            <a:srgbClr val="50E6FF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0" y="777240"/>
            <a:ext cx="310896" cy="310896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0" y="1554480"/>
            <a:ext cx="310896" cy="310896"/>
          </a:xfrm>
          <a:prstGeom prst="ellipse">
            <a:avLst/>
          </a:prstGeom>
          <a:solidFill>
            <a:srgbClr val="2EC5CE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Diagram Builder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an idea or existing artifact to an editable, validated Azure architecture.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22960" y="4526280"/>
            <a:ext cx="4128516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26280"/>
            <a:ext cx="41285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Prompt, image, template or Azure import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80076" y="4526280"/>
            <a:ext cx="1536192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0076" y="452628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AI models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4868" y="452628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4868" y="452628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+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17636" y="4526280"/>
            <a:ext cx="1248156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17636" y="4526280"/>
            <a:ext cx="12481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+ MCP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3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ML Community · September 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146304" cy="5669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workspace from first idea to usable artifact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2615184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a prompt, image, ARM/Bicep/Terraform template, or live Azure resources.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38144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38144" y="1828800"/>
            <a:ext cx="2615184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3639312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9312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Refine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39312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the canvas directly or use Guided Chat for deliberate, minimal architecture changes.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7648" y="1828800"/>
            <a:ext cx="2615184" cy="10972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28816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528816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WAF gaps, compare models, and estimate costs across 14 Azure regions.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217152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17152" y="1828800"/>
            <a:ext cx="2615184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0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418320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418320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presentation and engineering artifacts, or expose deterministic design tools through MCP.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product, not a diagram-generation 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and source verified on 2026-09-21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v2.0.4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web 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38144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38144" y="182880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529584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AI models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27648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27648" y="1828800"/>
            <a:ext cx="2615184" cy="91440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419088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pricing regions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17152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217152" y="182880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9217152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308592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MCP tools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79476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Conversational refinement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38144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38144" y="3794760"/>
            <a:ext cx="2615184" cy="914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6"/>
          <p:cNvSpPr/>
          <p:nvPr/>
        </p:nvSpPr>
        <p:spPr>
          <a:xfrm>
            <a:off x="3438144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Blueprint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3529584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Presentation-ready output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27648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27648" y="3794760"/>
            <a:ext cx="2615184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Autosave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6419088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built into the canvas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17152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217152" y="379476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6" name="Text 34"/>
          <p:cNvSpPr/>
          <p:nvPr/>
        </p:nvSpPr>
        <p:spPr>
          <a:xfrm>
            <a:off x="9217152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azd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9308592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Greenfield self-deployment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interfaces, one design system: </a:t>
            </a:r>
            <a:pPr algn="ctr"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interactive web app for people and deterministic MCP tools for agents.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 USE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move beyond generation to validation and delivery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554480"/>
            <a:ext cx="3931920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1828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COMPLETE DAYS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95528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470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7955280" y="3200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users across 47 countries, measured from browser telemetry.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0" y="41605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2026-08-22 through 2026-09-20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772 sessions · 8,834 feature events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canvas, the whole architecture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91440" cy="21214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intake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from natural language, an image, templates, or live Azure resources.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71416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71416" y="1600200"/>
            <a:ext cx="91440" cy="212140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10"/>
          <p:cNvSpPr/>
          <p:nvPr/>
        </p:nvSpPr>
        <p:spPr>
          <a:xfrm>
            <a:off x="4672584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72584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+ refine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2584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among 15 models, then use Guided Chat without erasing deliberate canvas work.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94192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94192" y="1600200"/>
            <a:ext cx="91440" cy="21214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0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BP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95360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Topology + Blueprint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595360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an editable engineering view and a polished presentation view from one brief.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977640"/>
            <a:ext cx="91440" cy="21214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9808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Evidence-aware review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9808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diagram-level WAF gaps, apply recommendations, and compare model critiques.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71416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71416" y="3977640"/>
            <a:ext cx="91440" cy="212140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27" name="Text 25"/>
          <p:cNvSpPr/>
          <p:nvPr/>
        </p:nvSpPr>
        <p:spPr>
          <a:xfrm>
            <a:off x="4672584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672584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with provenance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672584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native prices across 14 regions with explicit coverage and pricing dates.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94192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94192" y="3977640"/>
            <a:ext cx="91440" cy="212140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95360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 and extend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595360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diagrams, reports, IaC guides, or call deterministic design tools through MCP.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output leaves the canvas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554480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554480"/>
            <a:ext cx="91440" cy="1371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5"/>
          <p:cNvSpPr/>
          <p:nvPr/>
        </p:nvSpPr>
        <p:spPr>
          <a:xfrm>
            <a:off x="8074152" y="171907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074152" y="234086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exports by 147 users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818120" y="3072384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18120" y="3072384"/>
            <a:ext cx="91440" cy="137160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9"/>
          <p:cNvSpPr/>
          <p:nvPr/>
        </p:nvSpPr>
        <p:spPr>
          <a:xfrm>
            <a:off x="8074152" y="3236976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074152" y="385876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guides by 32 users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818120" y="4590288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818120" y="4590288"/>
            <a:ext cx="91440" cy="13716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3"/>
          <p:cNvSpPr/>
          <p:nvPr/>
        </p:nvSpPr>
        <p:spPr>
          <a:xfrm>
            <a:off x="8074152" y="47548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074152" y="53766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IaC imports by 21 users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LAYER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Multi-model by design, measured at the server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configured models across GPT-5.x, MAI, DeepSeek, Grok, Mistral, and Kimi.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69080" cy="4206240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43800" y="1783080"/>
            <a:ext cx="4069080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9" name="Text 6"/>
          <p:cNvSpPr/>
          <p:nvPr/>
        </p:nvSpPr>
        <p:spPr>
          <a:xfrm>
            <a:off x="7818120" y="20574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AUTHORITATIVE TRAFFIC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18120" y="23774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2,880 calls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818120" y="31089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14.5M tokens processed. 2,855 requests succeeded; 25 failed; 2 were throttled.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18120" y="45262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Scope: </a:t>
            </a:r>
            <a:pPr indent="0" marL="0"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web app model proxy. Window: 22 Aug–20 Sep 2026.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146304" cy="5669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Instrumented for responsible experimentation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2615184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99.1%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model request success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38144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920240"/>
            <a:ext cx="2615184" cy="91440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75304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rotating client signals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27648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7648" y="192024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v2.0.4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64808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production revision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217152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17152" y="1920240"/>
            <a:ext cx="2615184" cy="914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7"/>
          <p:cNvSpPr/>
          <p:nvPr/>
        </p:nvSpPr>
        <p:spPr>
          <a:xfrm>
            <a:off x="9217152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354312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discovery response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11091672" cy="1554480"/>
          </a:xfrm>
          <a:prstGeom prst="rect">
            <a:avLst/>
          </a:prstGeom>
          <a:solidFill>
            <a:srgbClr val="0E2746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3434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telemetry measures product use. Server logs measure model traffic. </a:t>
            </a:r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Prompts, model responses, credentials, raw IPs, and user agents are not retained.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WORK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86384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architecture, four moves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615184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240280"/>
            <a:ext cx="2615184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79476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the workload or import an existing artifact.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38144" y="2240280"/>
            <a:ext cx="2615184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38144" y="2240280"/>
            <a:ext cx="2615184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25146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666744" y="315468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Refine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66744" y="379476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one requirement through Guided Chat.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27648" y="2240280"/>
            <a:ext cx="2615184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27648" y="2240280"/>
            <a:ext cx="2615184" cy="10972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8" name="Text 16"/>
          <p:cNvSpPr/>
          <p:nvPr/>
        </p:nvSpPr>
        <p:spPr>
          <a:xfrm>
            <a:off x="6556248" y="25146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56248" y="315468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 WAF gap and regional cost evidence.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17152" y="2240280"/>
            <a:ext cx="2615184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17152" y="2240280"/>
            <a:ext cx="2615184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445752" y="25146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445752" y="315468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445752" y="379476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a deck or call the same design logic through MCP.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413248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FC3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it:  aka.ms/diagram-builder   ·   Current production version: v2.0.4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Architecture Diagram Builder — Overview</dc:title>
  <dc:subject>PptxGenJS Presentation</dc:subject>
  <dc:creator>Azure Architecture Diagram Builder</dc:creator>
  <cp:lastModifiedBy>Azure Architecture Diagram Builder</cp:lastModifiedBy>
  <cp:revision>1</cp:revision>
  <dcterms:created xsi:type="dcterms:W3CDTF">2026-09-21T20:39:42Z</dcterms:created>
  <dcterms:modified xsi:type="dcterms:W3CDTF">2026-09-21T20:39:42Z</dcterms:modified>
</cp:coreProperties>
</file>