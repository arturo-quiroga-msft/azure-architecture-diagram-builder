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2233B"/>
                </a:solidFill>
                <a:latin typeface="Segoe UI"/>
              </a:defRPr>
            </a:pPr>
            <a:r>
              <a:rPr sz="1400" b="0" i="0" u="none" strike="noStrike">
                <a:solidFill>
                  <a:srgbClr val="12233B"/>
                </a:solidFill>
                <a:latin typeface="Segoe UI"/>
              </a:rPr>
              <a:t>Monthly active users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Active users</c:v>
                </c:pt>
              </c:strCache>
            </c:strRef>
          </c:tx>
          <c:spPr>
            <a:solidFill>
              <a:srgbClr val="0078D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2233B"/>
                    </a:solidFill>
                    <a:latin typeface="Segoe U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 (partial)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</c:v>
                </c:pt>
                <c:pt idx="1">
                  <c:v>10</c:v>
                </c:pt>
                <c:pt idx="2">
                  <c:v>109</c:v>
                </c:pt>
                <c:pt idx="3">
                  <c:v>155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300" u="none">
                  <a:solidFill>
                    <a:srgbClr val="12233B"/>
                  </a:solidFill>
                  <a:latin typeface="Segoe U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82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9E2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82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2233B"/>
                </a:solidFill>
                <a:latin typeface="Segoe UI"/>
              </a:defRPr>
            </a:pPr>
            <a:r>
              <a:rPr sz="1400" b="0" i="0" u="none" strike="noStrike">
                <a:solidFill>
                  <a:srgbClr val="12233B"/>
                </a:solidFill>
                <a:latin typeface="Segoe UI"/>
              </a:rPr>
              <a:t>Exports by format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Exports</c:v>
                </c:pt>
              </c:strCache>
            </c:strRef>
          </c:tx>
          <c:spPr>
            <a:solidFill>
              <a:srgbClr val="0078D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2233B"/>
                    </a:solidFill>
                    <a:latin typeface="Segoe U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JSON</c:v>
                  </c:pt>
                  <c:pt idx="1">
                    <c:v>PNG</c:v>
                  </c:pt>
                  <c:pt idx="2">
                    <c:v>PowerPoint</c:v>
                  </c:pt>
                  <c:pt idx="3">
                    <c:v>Draw.io</c:v>
                  </c:pt>
                  <c:pt idx="4">
                    <c:v>CSV</c:v>
                  </c:pt>
                  <c:pt idx="5">
                    <c:v>SVG</c:v>
                  </c:pt>
                  <c:pt idx="6">
                    <c:v>HTML</c:v>
                  </c:pt>
                  <c:pt idx="7">
                    <c:v>IaC bundle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135</c:v>
                </c:pt>
                <c:pt idx="1">
                  <c:v>79</c:v>
                </c:pt>
                <c:pt idx="2">
                  <c:v>43</c:v>
                </c:pt>
                <c:pt idx="3">
                  <c:v>36</c:v>
                </c:pt>
                <c:pt idx="4">
                  <c:v>27</c:v>
                </c:pt>
                <c:pt idx="5">
                  <c:v>23</c:v>
                </c:pt>
                <c:pt idx="6">
                  <c:v>22</c:v>
                </c:pt>
                <c:pt idx="7">
                  <c:v>11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12233B"/>
                  </a:solidFill>
                  <a:latin typeface="Segoe U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82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9E2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82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2233B"/>
                </a:solidFill>
                <a:latin typeface="Segoe UI"/>
              </a:defRPr>
            </a:pPr>
            <a:r>
              <a:rPr sz="1400" b="0" i="0" u="none" strike="noStrike">
                <a:solidFill>
                  <a:srgbClr val="12233B"/>
                </a:solidFill>
                <a:latin typeface="Segoe UI"/>
              </a:rPr>
              <a:t>Generation calls by model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Calls</c:v>
                </c:pt>
              </c:strCache>
            </c:strRef>
          </c:tx>
          <c:spPr>
            <a:solidFill>
              <a:srgbClr val="2EC5C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2233B"/>
                    </a:solidFill>
                    <a:latin typeface="Segoe U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GPT-5.2</c:v>
                  </c:pt>
                  <c:pt idx="1">
                    <c:v>GPT-5.1</c:v>
                  </c:pt>
                  <c:pt idx="2">
                    <c:v>GPT-5.4</c:v>
                  </c:pt>
                  <c:pt idx="3">
                    <c:v>GPT-5.3 Codex</c:v>
                  </c:pt>
                  <c:pt idx="4">
                    <c:v>GPT-5.4 Mini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481</c:v>
                </c:pt>
                <c:pt idx="1">
                  <c:v>292</c:v>
                </c:pt>
                <c:pt idx="2">
                  <c:v>227</c:v>
                </c:pt>
                <c:pt idx="3">
                  <c:v>66</c:v>
                </c:pt>
                <c:pt idx="4">
                  <c:v>55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12233B"/>
                  </a:solidFill>
                  <a:latin typeface="Segoe U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82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9E2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82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64592"/>
            <a:ext cx="12188952" cy="54864"/>
          </a:xfrm>
          <a:prstGeom prst="rect">
            <a:avLst/>
          </a:prstGeom>
          <a:solidFill>
            <a:srgbClr val="50E6FF"/>
          </a:solidFill>
          <a:ln/>
        </p:spPr>
      </p:sp>
      <p:sp>
        <p:nvSpPr>
          <p:cNvPr id="4" name="Shape 2"/>
          <p:cNvSpPr/>
          <p:nvPr/>
        </p:nvSpPr>
        <p:spPr>
          <a:xfrm>
            <a:off x="9784080" y="1143000"/>
            <a:ext cx="1280160" cy="640080"/>
          </a:xfrm>
          <a:prstGeom prst="line">
            <a:avLst/>
          </a:prstGeom>
          <a:noFill/>
          <a:ln w="25400">
            <a:solidFill>
              <a:srgbClr val="24456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784080" y="1143000"/>
            <a:ext cx="1280160" cy="0"/>
          </a:xfrm>
          <a:prstGeom prst="line">
            <a:avLst/>
          </a:prstGeom>
          <a:noFill/>
          <a:ln w="25400">
            <a:solidFill>
              <a:srgbClr val="24456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646920" y="1005840"/>
            <a:ext cx="310896" cy="310896"/>
          </a:xfrm>
          <a:prstGeom prst="ellipse">
            <a:avLst/>
          </a:prstGeom>
          <a:solidFill>
            <a:srgbClr val="50E6FF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972800" y="777240"/>
            <a:ext cx="310896" cy="310896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972800" y="1554480"/>
            <a:ext cx="310896" cy="310896"/>
          </a:xfrm>
          <a:prstGeom prst="ellipse">
            <a:avLst/>
          </a:prstGeom>
          <a:solidFill>
            <a:srgbClr val="2EC5CE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1488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600" kern="0" dirty="0">
                <a:solidFill>
                  <a:srgbClr val="50E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AZURE ARCHITECTURE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77240" y="251460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Diagram Builder</a:t>
            </a:r>
            <a:endParaRPr lang="en-US" sz="6000" dirty="0"/>
          </a:p>
        </p:txBody>
      </p:sp>
      <p:sp>
        <p:nvSpPr>
          <p:cNvPr id="11" name="Text 9"/>
          <p:cNvSpPr/>
          <p:nvPr/>
        </p:nvSpPr>
        <p:spPr>
          <a:xfrm>
            <a:off x="822960" y="3703320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7D6E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Natural-language prompts → validated, costed, deployable Azure architectures.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822960" y="4526280"/>
            <a:ext cx="2688336" cy="420624"/>
          </a:xfrm>
          <a:prstGeom prst="roundRect">
            <a:avLst>
              <a:gd name="adj" fmla="val 50000"/>
            </a:avLst>
          </a:prstGeom>
          <a:solidFill>
            <a:srgbClr val="102A4C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4526280"/>
            <a:ext cx="26883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CE8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714 official Azure icons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739896" y="4526280"/>
            <a:ext cx="1920240" cy="420624"/>
          </a:xfrm>
          <a:prstGeom prst="roundRect">
            <a:avLst>
              <a:gd name="adj" fmla="val 50000"/>
            </a:avLst>
          </a:prstGeom>
          <a:solidFill>
            <a:srgbClr val="102A4C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39896" y="4526280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CE8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 export formats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888736" y="4526280"/>
            <a:ext cx="2208276" cy="420624"/>
          </a:xfrm>
          <a:prstGeom prst="roundRect">
            <a:avLst>
              <a:gd name="adj" fmla="val 50000"/>
            </a:avLst>
          </a:prstGeom>
          <a:solidFill>
            <a:srgbClr val="102A4C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888736" y="4526280"/>
            <a:ext cx="22082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CE8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12+ frontier models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325612" y="4526280"/>
            <a:ext cx="1728216" cy="420624"/>
          </a:xfrm>
          <a:prstGeom prst="roundRect">
            <a:avLst>
              <a:gd name="adj" fmla="val 50000"/>
            </a:avLst>
          </a:prstGeom>
          <a:solidFill>
            <a:srgbClr val="102A4C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25612" y="4526280"/>
            <a:ext cx="17282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CE8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WAF validation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2960" y="59436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E93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Overview · June 2026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E77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Azure Architecture Diagram Builder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77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48640"/>
            <a:ext cx="146304" cy="566928"/>
          </a:xfrm>
          <a:prstGeom prst="rect">
            <a:avLst/>
          </a:prstGeom>
          <a:solidFill>
            <a:srgbClr val="50E6FF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0E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IT IS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94944" y="77724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From a sentence to a stakeholder-ready architecture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2615184" cy="3931920"/>
          </a:xfrm>
          <a:prstGeom prst="rect">
            <a:avLst/>
          </a:prstGeom>
          <a:solidFill>
            <a:srgbClr val="102A4C"/>
          </a:solidFill>
          <a:ln w="12700">
            <a:solidFill>
              <a:srgbClr val="1C3A5C"/>
            </a:solidFill>
            <a:prstDash val="solid"/>
          </a:ln>
          <a:effectLst>
            <a:outerShdw sx="100000" sy="100000" kx="0" ky="0" algn="bl" rotWithShape="0" blurRad="114300" dist="38100" dir="5400000">
              <a:srgbClr val="0A1422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828800"/>
            <a:ext cx="2615184" cy="109728"/>
          </a:xfrm>
          <a:prstGeom prst="rect">
            <a:avLst/>
          </a:prstGeom>
          <a:solidFill>
            <a:srgbClr val="50E6FF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2084832"/>
            <a:ext cx="22494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0E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749808" y="2788920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Describe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749808" y="3291840"/>
            <a:ext cx="22128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9CA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Type what you want to build in plain English. Pick from 12+ frontier models and a reasoning effort.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3438144" y="1828800"/>
            <a:ext cx="2615184" cy="3931920"/>
          </a:xfrm>
          <a:prstGeom prst="rect">
            <a:avLst/>
          </a:prstGeom>
          <a:solidFill>
            <a:srgbClr val="102A4C"/>
          </a:solidFill>
          <a:ln w="12700">
            <a:solidFill>
              <a:srgbClr val="1C3A5C"/>
            </a:solidFill>
            <a:prstDash val="solid"/>
          </a:ln>
          <a:effectLst>
            <a:outerShdw sx="100000" sy="100000" kx="0" ky="0" algn="bl" rotWithShape="0" blurRad="114300" dist="38100" dir="5400000">
              <a:srgbClr val="0A1422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438144" y="1828800"/>
            <a:ext cx="2615184" cy="109728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12" name="Text 10"/>
          <p:cNvSpPr/>
          <p:nvPr/>
        </p:nvSpPr>
        <p:spPr>
          <a:xfrm>
            <a:off x="3639312" y="2084832"/>
            <a:ext cx="22494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3639312" y="2788920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Generate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3639312" y="3291840"/>
            <a:ext cx="22128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9CA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Get a laid-out diagram with official Azure icons, smart grouping, and editable connections in seconds.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327648" y="1828800"/>
            <a:ext cx="2615184" cy="3931920"/>
          </a:xfrm>
          <a:prstGeom prst="rect">
            <a:avLst/>
          </a:prstGeom>
          <a:solidFill>
            <a:srgbClr val="102A4C"/>
          </a:solidFill>
          <a:ln w="12700">
            <a:solidFill>
              <a:srgbClr val="1C3A5C"/>
            </a:solidFill>
            <a:prstDash val="solid"/>
          </a:ln>
          <a:effectLst>
            <a:outerShdw sx="100000" sy="100000" kx="0" ky="0" algn="bl" rotWithShape="0" blurRad="114300" dist="38100" dir="5400000">
              <a:srgbClr val="0A1422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327648" y="1828800"/>
            <a:ext cx="2615184" cy="109728"/>
          </a:xfrm>
          <a:prstGeom prst="rect">
            <a:avLst/>
          </a:prstGeom>
          <a:solidFill>
            <a:srgbClr val="2EC5CE"/>
          </a:solidFill>
          <a:ln/>
        </p:spPr>
      </p:sp>
      <p:sp>
        <p:nvSpPr>
          <p:cNvPr id="17" name="Text 15"/>
          <p:cNvSpPr/>
          <p:nvPr/>
        </p:nvSpPr>
        <p:spPr>
          <a:xfrm>
            <a:off x="6528816" y="2084832"/>
            <a:ext cx="22494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EC5C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6528816" y="2788920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Validate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6528816" y="3291840"/>
            <a:ext cx="22128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9CA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 a Well-Architected Framework review that scores the design and surfaces concrete gaps.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9217152" y="1828800"/>
            <a:ext cx="2615184" cy="3931920"/>
          </a:xfrm>
          <a:prstGeom prst="rect">
            <a:avLst/>
          </a:prstGeom>
          <a:solidFill>
            <a:srgbClr val="102A4C"/>
          </a:solidFill>
          <a:ln w="12700">
            <a:solidFill>
              <a:srgbClr val="1C3A5C"/>
            </a:solidFill>
            <a:prstDash val="solid"/>
          </a:ln>
          <a:effectLst>
            <a:outerShdw sx="100000" sy="100000" kx="0" ky="0" algn="bl" rotWithShape="0" blurRad="114300" dist="38100" dir="5400000">
              <a:srgbClr val="0A1422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9217152" y="1828800"/>
            <a:ext cx="2615184" cy="109728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22" name="Text 20"/>
          <p:cNvSpPr/>
          <p:nvPr/>
        </p:nvSpPr>
        <p:spPr>
          <a:xfrm>
            <a:off x="9418320" y="2084832"/>
            <a:ext cx="22494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9418320" y="2788920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Ship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9418320" y="3291840"/>
            <a:ext cx="22128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9CA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Export to PNG/SVG/PPTX/Draw.io, generate Bicep deployment guides, and costed multi-region estimates.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E77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Azure Architecture Diagram Builder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77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46304" cy="566928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IMPACT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94944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23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 adoption, measured — not estimated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13232" y="12801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Application Insights + Azure Cost Management · 2026 year-to-date (through 2026-06-22)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2615184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5400000">
              <a:srgbClr val="233247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828800"/>
            <a:ext cx="2615184" cy="9144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084832"/>
            <a:ext cx="2615184" cy="7991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223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267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640080" y="2905963"/>
            <a:ext cx="2432304" cy="555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Unique users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438144" y="1828800"/>
            <a:ext cx="2615184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5400000">
              <a:srgbClr val="233247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438144" y="1828800"/>
            <a:ext cx="2615184" cy="91440"/>
          </a:xfrm>
          <a:prstGeom prst="rect">
            <a:avLst/>
          </a:prstGeom>
          <a:solidFill>
            <a:srgbClr val="2EC5CE"/>
          </a:solidFill>
          <a:ln/>
        </p:spPr>
      </p:sp>
      <p:sp>
        <p:nvSpPr>
          <p:cNvPr id="12" name="Text 10"/>
          <p:cNvSpPr/>
          <p:nvPr/>
        </p:nvSpPr>
        <p:spPr>
          <a:xfrm>
            <a:off x="3438144" y="2084832"/>
            <a:ext cx="2615184" cy="7991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223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39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3529584" y="2905963"/>
            <a:ext cx="2432304" cy="555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Countries reached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327648" y="1828800"/>
            <a:ext cx="2615184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5400000">
              <a:srgbClr val="233247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327648" y="1828800"/>
            <a:ext cx="2615184" cy="91440"/>
          </a:xfrm>
          <a:prstGeom prst="rect">
            <a:avLst/>
          </a:prstGeom>
          <a:solidFill>
            <a:srgbClr val="50E6FF"/>
          </a:solidFill>
          <a:ln/>
        </p:spPr>
      </p:sp>
      <p:sp>
        <p:nvSpPr>
          <p:cNvPr id="16" name="Text 14"/>
          <p:cNvSpPr/>
          <p:nvPr/>
        </p:nvSpPr>
        <p:spPr>
          <a:xfrm>
            <a:off x="6327648" y="2084832"/>
            <a:ext cx="2615184" cy="7991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223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432</a:t>
            </a:r>
            <a:endParaRPr lang="en-US" sz="3400" dirty="0"/>
          </a:p>
        </p:txBody>
      </p:sp>
      <p:sp>
        <p:nvSpPr>
          <p:cNvPr id="17" name="Text 15"/>
          <p:cNvSpPr/>
          <p:nvPr/>
        </p:nvSpPr>
        <p:spPr>
          <a:xfrm>
            <a:off x="6419088" y="2905963"/>
            <a:ext cx="2432304" cy="555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Sessions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9217152" y="1828800"/>
            <a:ext cx="2615184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5400000">
              <a:srgbClr val="233247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9217152" y="1828800"/>
            <a:ext cx="2615184" cy="9144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20" name="Text 18"/>
          <p:cNvSpPr/>
          <p:nvPr/>
        </p:nvSpPr>
        <p:spPr>
          <a:xfrm>
            <a:off x="9217152" y="2084832"/>
            <a:ext cx="2615184" cy="7991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223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2,873</a:t>
            </a:r>
            <a:endParaRPr lang="en-US" sz="3400" dirty="0"/>
          </a:p>
        </p:txBody>
      </p:sp>
      <p:sp>
        <p:nvSpPr>
          <p:cNvPr id="21" name="Text 19"/>
          <p:cNvSpPr/>
          <p:nvPr/>
        </p:nvSpPr>
        <p:spPr>
          <a:xfrm>
            <a:off x="9308592" y="2905963"/>
            <a:ext cx="2432304" cy="555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Tracked events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3794760"/>
            <a:ext cx="2615184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5400000">
              <a:srgbClr val="233247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48640" y="3794760"/>
            <a:ext cx="2615184" cy="91440"/>
          </a:xfrm>
          <a:prstGeom prst="rect">
            <a:avLst/>
          </a:prstGeom>
          <a:solidFill>
            <a:srgbClr val="2EC5CE"/>
          </a:solidFill>
          <a:ln/>
        </p:spPr>
      </p:sp>
      <p:sp>
        <p:nvSpPr>
          <p:cNvPr id="24" name="Text 22"/>
          <p:cNvSpPr/>
          <p:nvPr/>
        </p:nvSpPr>
        <p:spPr>
          <a:xfrm>
            <a:off x="548640" y="4050792"/>
            <a:ext cx="2615184" cy="7991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223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151</a:t>
            </a:r>
            <a:endParaRPr lang="en-US" sz="3400" dirty="0"/>
          </a:p>
        </p:txBody>
      </p:sp>
      <p:sp>
        <p:nvSpPr>
          <p:cNvPr id="25" name="Text 23"/>
          <p:cNvSpPr/>
          <p:nvPr/>
        </p:nvSpPr>
        <p:spPr>
          <a:xfrm>
            <a:off x="640080" y="4871923"/>
            <a:ext cx="2432304" cy="555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Cities reached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3438144" y="3794760"/>
            <a:ext cx="2615184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5400000">
              <a:srgbClr val="233247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438144" y="3794760"/>
            <a:ext cx="2615184" cy="91440"/>
          </a:xfrm>
          <a:prstGeom prst="rect">
            <a:avLst/>
          </a:prstGeom>
          <a:solidFill>
            <a:srgbClr val="F2A900"/>
          </a:solidFill>
          <a:ln/>
        </p:spPr>
      </p:sp>
      <p:sp>
        <p:nvSpPr>
          <p:cNvPr id="28" name="Text 26"/>
          <p:cNvSpPr/>
          <p:nvPr/>
        </p:nvSpPr>
        <p:spPr>
          <a:xfrm>
            <a:off x="3438144" y="4050792"/>
            <a:ext cx="2615184" cy="7991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223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~$109</a:t>
            </a:r>
            <a:endParaRPr lang="en-US" sz="3400" dirty="0"/>
          </a:p>
        </p:txBody>
      </p:sp>
      <p:sp>
        <p:nvSpPr>
          <p:cNvPr id="29" name="Text 27"/>
          <p:cNvSpPr/>
          <p:nvPr/>
        </p:nvSpPr>
        <p:spPr>
          <a:xfrm>
            <a:off x="3529584" y="4871923"/>
            <a:ext cx="2432304" cy="555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LLM cost / month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327648" y="3794760"/>
            <a:ext cx="2615184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5400000">
              <a:srgbClr val="233247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6327648" y="3794760"/>
            <a:ext cx="2615184" cy="9144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32" name="Text 30"/>
          <p:cNvSpPr/>
          <p:nvPr/>
        </p:nvSpPr>
        <p:spPr>
          <a:xfrm>
            <a:off x="6327648" y="4050792"/>
            <a:ext cx="2615184" cy="7991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223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~$0.41</a:t>
            </a:r>
            <a:endParaRPr lang="en-US" sz="3400" dirty="0"/>
          </a:p>
        </p:txBody>
      </p:sp>
      <p:sp>
        <p:nvSpPr>
          <p:cNvPr id="33" name="Text 31"/>
          <p:cNvSpPr/>
          <p:nvPr/>
        </p:nvSpPr>
        <p:spPr>
          <a:xfrm>
            <a:off x="6419088" y="4871923"/>
            <a:ext cx="2432304" cy="555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 per user / mo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9217152" y="3794760"/>
            <a:ext cx="2615184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5400000">
              <a:srgbClr val="233247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9217152" y="3794760"/>
            <a:ext cx="2615184" cy="9144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6" name="Text 34"/>
          <p:cNvSpPr/>
          <p:nvPr/>
        </p:nvSpPr>
        <p:spPr>
          <a:xfrm>
            <a:off x="9217152" y="4050792"/>
            <a:ext cx="2615184" cy="7991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223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520</a:t>
            </a:r>
            <a:endParaRPr lang="en-US" sz="3400" dirty="0"/>
          </a:p>
        </p:txBody>
      </p:sp>
      <p:sp>
        <p:nvSpPr>
          <p:cNvPr id="37" name="Text 35"/>
          <p:cNvSpPr/>
          <p:nvPr/>
        </p:nvSpPr>
        <p:spPr>
          <a:xfrm>
            <a:off x="9308592" y="4871923"/>
            <a:ext cx="2432304" cy="555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Architectures generated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548640" y="57150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223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Globally adopted, maintained by one person on a personal subscription — </a:t>
            </a:r>
            <a:pPr algn="ctr" indent="0" marL="0">
              <a:buNone/>
            </a:pPr>
            <a:r>
              <a:rPr lang="en-US" sz="1500" b="1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 the price of two coffees a month.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Azure Architecture Diagram Builder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46304" cy="566928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GROWTH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94944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23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Adoption is accelerating — organically</a:t>
            </a:r>
            <a:endParaRPr lang="en-US" sz="28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554480"/>
          <a:ext cx="676656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680960" y="1554480"/>
            <a:ext cx="3931920" cy="4480560"/>
          </a:xfrm>
          <a:prstGeom prst="rect">
            <a:avLst/>
          </a:prstGeom>
          <a:solidFill>
            <a:srgbClr val="0B1F3A"/>
          </a:solidFill>
          <a:ln/>
          <a:effectLst>
            <a:outerShdw sx="100000" sy="100000" kx="0" ky="0" algn="bl" rotWithShape="0" blurRad="114300" dist="38100" dir="5400000">
              <a:srgbClr val="0A1422">
                <a:alpha val="18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680960" y="1554480"/>
            <a:ext cx="3931920" cy="109728"/>
          </a:xfrm>
          <a:prstGeom prst="rect">
            <a:avLst/>
          </a:prstGeom>
          <a:solidFill>
            <a:srgbClr val="50E6FF"/>
          </a:solidFill>
          <a:ln/>
        </p:spPr>
      </p:sp>
      <p:sp>
        <p:nvSpPr>
          <p:cNvPr id="8" name="Text 5"/>
          <p:cNvSpPr/>
          <p:nvPr/>
        </p:nvSpPr>
        <p:spPr>
          <a:xfrm>
            <a:off x="7955280" y="182880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0E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STILL CLIMBING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7955280" y="219456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155</a:t>
            </a:r>
            <a:endParaRPr lang="en-US" sz="5600" dirty="0"/>
          </a:p>
        </p:txBody>
      </p:sp>
      <p:sp>
        <p:nvSpPr>
          <p:cNvPr id="10" name="Text 7"/>
          <p:cNvSpPr/>
          <p:nvPr/>
        </p:nvSpPr>
        <p:spPr>
          <a:xfrm>
            <a:off x="7955280" y="320040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7D6E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active users in June (22 days) — up from 10 in April. May’s 10× jump was no fluke.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7955280" y="4160520"/>
            <a:ext cx="3383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50E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Recent months
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CE8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 — 155 users / 1,151 events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CE8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 — 109 users / 1,370 events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Azure Architecture Diagram Builder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46304" cy="566928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CAPABILITIES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94944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23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canvas, the whole architecture lifecycle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3630168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5400000">
              <a:srgbClr val="233247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600200"/>
            <a:ext cx="91440" cy="2121408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1746504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749808" y="2203704"/>
            <a:ext cx="32644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23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generation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49808" y="2514600"/>
            <a:ext cx="3264408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Natural-language prompts become laid-out diagrams across 12+ frontier models.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471416" y="1600200"/>
            <a:ext cx="3630168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5400000">
              <a:srgbClr val="233247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471416" y="1600200"/>
            <a:ext cx="91440" cy="2121408"/>
          </a:xfrm>
          <a:prstGeom prst="rect">
            <a:avLst/>
          </a:prstGeom>
          <a:solidFill>
            <a:srgbClr val="2EC5CE"/>
          </a:solidFill>
          <a:ln/>
        </p:spPr>
      </p:sp>
      <p:sp>
        <p:nvSpPr>
          <p:cNvPr id="12" name="Text 10"/>
          <p:cNvSpPr/>
          <p:nvPr/>
        </p:nvSpPr>
        <p:spPr>
          <a:xfrm>
            <a:off x="4672584" y="1746504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C5C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WAF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4672584" y="2203704"/>
            <a:ext cx="32644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23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WAF validation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4672584" y="2514600"/>
            <a:ext cx="3264408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Scored Well-Architected reviews surface concrete reliability, security &amp; cost gaps.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394192" y="1600200"/>
            <a:ext cx="3630168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5400000">
              <a:srgbClr val="233247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394192" y="1600200"/>
            <a:ext cx="91440" cy="2121408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17" name="Text 15"/>
          <p:cNvSpPr/>
          <p:nvPr/>
        </p:nvSpPr>
        <p:spPr>
          <a:xfrm>
            <a:off x="8595360" y="1746504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595360" y="2203704"/>
            <a:ext cx="32644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23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Multi-region cost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8595360" y="2514600"/>
            <a:ext cx="3264408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estimates across 8 Azure regions with ranked comparison and savings flags.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3977640"/>
            <a:ext cx="3630168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5400000">
              <a:srgbClr val="233247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48640" y="3977640"/>
            <a:ext cx="91440" cy="2121408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22" name="Text 20"/>
          <p:cNvSpPr/>
          <p:nvPr/>
        </p:nvSpPr>
        <p:spPr>
          <a:xfrm>
            <a:off x="749808" y="4123944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IaC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749808" y="4581144"/>
            <a:ext cx="32644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23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Deployment guides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749808" y="4892040"/>
            <a:ext cx="3264408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Generates Bicep templates, prerequisites, and verification steps per service.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471416" y="3977640"/>
            <a:ext cx="3630168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5400000">
              <a:srgbClr val="233247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471416" y="3977640"/>
            <a:ext cx="91440" cy="2121408"/>
          </a:xfrm>
          <a:prstGeom prst="rect">
            <a:avLst/>
          </a:prstGeom>
          <a:solidFill>
            <a:srgbClr val="50E6FF"/>
          </a:solidFill>
          <a:ln/>
        </p:spPr>
      </p:sp>
      <p:sp>
        <p:nvSpPr>
          <p:cNvPr id="27" name="Text 25"/>
          <p:cNvSpPr/>
          <p:nvPr/>
        </p:nvSpPr>
        <p:spPr>
          <a:xfrm>
            <a:off x="4672584" y="4123944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0E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⇄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4672584" y="4581144"/>
            <a:ext cx="32644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23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Workflow &amp; narration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4672584" y="4892040"/>
            <a:ext cx="3264408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Animated step-by-step data-flow walkthroughs with optional avatar narration.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8394192" y="3977640"/>
            <a:ext cx="3630168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5400000">
              <a:srgbClr val="233247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394192" y="3977640"/>
            <a:ext cx="91440" cy="2121408"/>
          </a:xfrm>
          <a:prstGeom prst="rect">
            <a:avLst/>
          </a:prstGeom>
          <a:solidFill>
            <a:srgbClr val="F2A900"/>
          </a:solidFill>
          <a:ln/>
        </p:spPr>
      </p:sp>
      <p:sp>
        <p:nvSpPr>
          <p:cNvPr id="32" name="Text 30"/>
          <p:cNvSpPr/>
          <p:nvPr/>
        </p:nvSpPr>
        <p:spPr>
          <a:xfrm>
            <a:off x="8595360" y="4123944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2A9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↧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8595360" y="4581144"/>
            <a:ext cx="32644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23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 export formats</a:t>
            </a:r>
            <a:endParaRPr lang="en-US" sz="1450" dirty="0"/>
          </a:p>
        </p:txBody>
      </p:sp>
      <p:sp>
        <p:nvSpPr>
          <p:cNvPr id="34" name="Text 32"/>
          <p:cNvSpPr/>
          <p:nvPr/>
        </p:nvSpPr>
        <p:spPr>
          <a:xfrm>
            <a:off x="8595360" y="4892040"/>
            <a:ext cx="3264408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PNG, SVG, PPTX, Draw.io, HTML, JSON, CSV, and az-prototype IaC round-trips.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Azure Architecture Diagram Builder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46304" cy="566928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OUTPUT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94944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23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People ship real artifacts, not just pictures</a:t>
            </a:r>
            <a:endParaRPr lang="en-US" sz="28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554480"/>
          <a:ext cx="694944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818120" y="1554480"/>
            <a:ext cx="379476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5400000">
              <a:srgbClr val="233247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818120" y="1554480"/>
            <a:ext cx="91440" cy="137160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8" name="Text 5"/>
          <p:cNvSpPr/>
          <p:nvPr/>
        </p:nvSpPr>
        <p:spPr>
          <a:xfrm>
            <a:off x="8074152" y="1719072"/>
            <a:ext cx="3337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376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8074152" y="2340864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diagrams exported by 83 users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7818120" y="3072384"/>
            <a:ext cx="379476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5400000">
              <a:srgbClr val="233247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7818120" y="3072384"/>
            <a:ext cx="91440" cy="1371600"/>
          </a:xfrm>
          <a:prstGeom prst="rect">
            <a:avLst/>
          </a:prstGeom>
          <a:solidFill>
            <a:srgbClr val="2EC5CE"/>
          </a:solidFill>
          <a:ln/>
        </p:spPr>
      </p:sp>
      <p:sp>
        <p:nvSpPr>
          <p:cNvPr id="12" name="Text 9"/>
          <p:cNvSpPr/>
          <p:nvPr/>
        </p:nvSpPr>
        <p:spPr>
          <a:xfrm>
            <a:off x="8074152" y="3236976"/>
            <a:ext cx="3337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3000" dirty="0"/>
          </a:p>
        </p:txBody>
      </p:sp>
      <p:sp>
        <p:nvSpPr>
          <p:cNvPr id="13" name="Text 10"/>
          <p:cNvSpPr/>
          <p:nvPr/>
        </p:nvSpPr>
        <p:spPr>
          <a:xfrm>
            <a:off x="8074152" y="3858768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Bicep deployment guides generated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7818120" y="4590288"/>
            <a:ext cx="379476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5400000">
              <a:srgbClr val="233247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7818120" y="4590288"/>
            <a:ext cx="91440" cy="137160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16" name="Text 13"/>
          <p:cNvSpPr/>
          <p:nvPr/>
        </p:nvSpPr>
        <p:spPr>
          <a:xfrm>
            <a:off x="8074152" y="4754880"/>
            <a:ext cx="3337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3000" dirty="0"/>
          </a:p>
        </p:txBody>
      </p:sp>
      <p:sp>
        <p:nvSpPr>
          <p:cNvPr id="17" name="Text 14"/>
          <p:cNvSpPr/>
          <p:nvPr/>
        </p:nvSpPr>
        <p:spPr>
          <a:xfrm>
            <a:off x="8074152" y="5376672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IaC imports — ARM 9 · Bicep 6 · Terraform 4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Azure Architecture Diagram Builder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46304" cy="566928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CHOICE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94944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23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Multi-model by design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13232" y="12801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12+ frontier models in production — users compare quality, latency, and cost side by side.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783080"/>
          <a:ext cx="667512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7543800" y="1783080"/>
            <a:ext cx="4069080" cy="4206240"/>
          </a:xfrm>
          <a:prstGeom prst="rect">
            <a:avLst/>
          </a:prstGeom>
          <a:solidFill>
            <a:srgbClr val="0B1F3A"/>
          </a:solidFill>
          <a:ln/>
          <a:effectLst>
            <a:outerShdw sx="100000" sy="100000" kx="0" ky="0" algn="bl" rotWithShape="0" blurRad="114300" dist="38100" dir="5400000">
              <a:srgbClr val="0A1422">
                <a:alpha val="1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543800" y="1783080"/>
            <a:ext cx="4069080" cy="109728"/>
          </a:xfrm>
          <a:prstGeom prst="rect">
            <a:avLst/>
          </a:prstGeom>
          <a:solidFill>
            <a:srgbClr val="50E6FF"/>
          </a:solidFill>
          <a:ln/>
        </p:spPr>
      </p:sp>
      <p:sp>
        <p:nvSpPr>
          <p:cNvPr id="9" name="Text 6"/>
          <p:cNvSpPr/>
          <p:nvPr/>
        </p:nvSpPr>
        <p:spPr>
          <a:xfrm>
            <a:off x="7818120" y="205740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0E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WAF VALIDATION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818120" y="237744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146 runs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818120" y="3108960"/>
            <a:ext cx="3520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C7D6E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Structured, scored design feedback — average 62–71 / 100 across leading models, surfacing concrete gaps before deployment.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7818120" y="4526280"/>
            <a:ext cx="3520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0E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Also exercised: </a:t>
            </a:r>
            <a:pPr indent="0" marL="0">
              <a:buNone/>
            </a:pPr>
            <a:r>
              <a:rPr lang="en-US" sz="1300" dirty="0">
                <a:solidFill>
                  <a:srgbClr val="DCE8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DeepSeek, Kimi, Mistral, GPT-OSS, and more.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Azure Architecture Diagram Builder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48640"/>
            <a:ext cx="146304" cy="566928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ECONOMICS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94944" y="77724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Enterprise-grade guidance at hobby-grade cost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2615184" cy="1828800"/>
          </a:xfrm>
          <a:prstGeom prst="rect">
            <a:avLst/>
          </a:prstGeom>
          <a:solidFill>
            <a:srgbClr val="102A4C"/>
          </a:solidFill>
          <a:ln w="12700">
            <a:solidFill>
              <a:srgbClr val="1F3A5C"/>
            </a:solidFill>
            <a:prstDash val="solid"/>
          </a:ln>
          <a:effectLst>
            <a:outerShdw sx="100000" sy="100000" kx="0" ky="0" algn="bl" rotWithShape="0" blurRad="114300" dist="38100" dir="5400000">
              <a:srgbClr val="0A1422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920240"/>
            <a:ext cx="2615184" cy="91440"/>
          </a:xfrm>
          <a:prstGeom prst="rect">
            <a:avLst/>
          </a:prstGeom>
          <a:solidFill>
            <a:srgbClr val="F2A900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2240280"/>
            <a:ext cx="26151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$108.52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685800" y="2971800"/>
            <a:ext cx="23408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B9CA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attributable token spend / 30 days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438144" y="1920240"/>
            <a:ext cx="2615184" cy="1828800"/>
          </a:xfrm>
          <a:prstGeom prst="rect">
            <a:avLst/>
          </a:prstGeom>
          <a:solidFill>
            <a:srgbClr val="102A4C"/>
          </a:solidFill>
          <a:ln w="12700">
            <a:solidFill>
              <a:srgbClr val="1F3A5C"/>
            </a:solidFill>
            <a:prstDash val="solid"/>
          </a:ln>
          <a:effectLst>
            <a:outerShdw sx="100000" sy="100000" kx="0" ky="0" algn="bl" rotWithShape="0" blurRad="114300" dist="38100" dir="5400000">
              <a:srgbClr val="0A1422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438144" y="1920240"/>
            <a:ext cx="2615184" cy="91440"/>
          </a:xfrm>
          <a:prstGeom prst="rect">
            <a:avLst/>
          </a:prstGeom>
          <a:solidFill>
            <a:srgbClr val="50E6FF"/>
          </a:solidFill>
          <a:ln/>
        </p:spPr>
      </p:sp>
      <p:sp>
        <p:nvSpPr>
          <p:cNvPr id="11" name="Text 9"/>
          <p:cNvSpPr/>
          <p:nvPr/>
        </p:nvSpPr>
        <p:spPr>
          <a:xfrm>
            <a:off x="3438144" y="2240280"/>
            <a:ext cx="26151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$17.88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3575304" y="2971800"/>
            <a:ext cx="23408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B9CA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blended cost per 1M tokens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327648" y="1920240"/>
            <a:ext cx="2615184" cy="1828800"/>
          </a:xfrm>
          <a:prstGeom prst="rect">
            <a:avLst/>
          </a:prstGeom>
          <a:solidFill>
            <a:srgbClr val="102A4C"/>
          </a:solidFill>
          <a:ln w="12700">
            <a:solidFill>
              <a:srgbClr val="1F3A5C"/>
            </a:solidFill>
            <a:prstDash val="solid"/>
          </a:ln>
          <a:effectLst>
            <a:outerShdw sx="100000" sy="100000" kx="0" ky="0" algn="bl" rotWithShape="0" blurRad="114300" dist="38100" dir="5400000">
              <a:srgbClr val="0A1422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327648" y="1920240"/>
            <a:ext cx="2615184" cy="91440"/>
          </a:xfrm>
          <a:prstGeom prst="rect">
            <a:avLst/>
          </a:prstGeom>
          <a:solidFill>
            <a:srgbClr val="2EC5CE"/>
          </a:solidFill>
          <a:ln/>
        </p:spPr>
      </p:sp>
      <p:sp>
        <p:nvSpPr>
          <p:cNvPr id="15" name="Text 13"/>
          <p:cNvSpPr/>
          <p:nvPr/>
        </p:nvSpPr>
        <p:spPr>
          <a:xfrm>
            <a:off x="6327648" y="2240280"/>
            <a:ext cx="26151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$0.12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6464808" y="2971800"/>
            <a:ext cx="23408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B9CA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avg cost per generation call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9217152" y="1920240"/>
            <a:ext cx="2615184" cy="1828800"/>
          </a:xfrm>
          <a:prstGeom prst="rect">
            <a:avLst/>
          </a:prstGeom>
          <a:solidFill>
            <a:srgbClr val="102A4C"/>
          </a:solidFill>
          <a:ln w="12700">
            <a:solidFill>
              <a:srgbClr val="1F3A5C"/>
            </a:solidFill>
            <a:prstDash val="solid"/>
          </a:ln>
          <a:effectLst>
            <a:outerShdw sx="100000" sy="100000" kx="0" ky="0" algn="bl" rotWithShape="0" blurRad="114300" dist="38100" dir="5400000">
              <a:srgbClr val="0A1422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9217152" y="1920240"/>
            <a:ext cx="2615184" cy="9144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19" name="Text 17"/>
          <p:cNvSpPr/>
          <p:nvPr/>
        </p:nvSpPr>
        <p:spPr>
          <a:xfrm>
            <a:off x="9217152" y="2240280"/>
            <a:ext cx="26151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~$0.41</a:t>
            </a:r>
            <a:endParaRPr lang="en-US" sz="3400" dirty="0"/>
          </a:p>
        </p:txBody>
      </p:sp>
      <p:sp>
        <p:nvSpPr>
          <p:cNvPr id="20" name="Text 18"/>
          <p:cNvSpPr/>
          <p:nvPr/>
        </p:nvSpPr>
        <p:spPr>
          <a:xfrm>
            <a:off x="9354312" y="2971800"/>
            <a:ext cx="23408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B9CA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 per active user / month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48640" y="4160520"/>
            <a:ext cx="11091672" cy="1554480"/>
          </a:xfrm>
          <a:prstGeom prst="rect">
            <a:avLst/>
          </a:prstGeom>
          <a:solidFill>
            <a:srgbClr val="0E2746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4343400"/>
            <a:ext cx="10332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DCE8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Validated, multi-cloud-quality Azure architecture guidance delivered to </a:t>
            </a:r>
            <a:pPr algn="ctr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50E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267 users across 39 countries</a:t>
            </a:r>
            <a:pPr algn="ctr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DCE8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for the price of two coffees a month, on a single personal subscription.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E77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Azure Architecture Diagram Builder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77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64592"/>
            <a:ext cx="12188952" cy="54864"/>
          </a:xfrm>
          <a:prstGeom prst="rect">
            <a:avLst/>
          </a:prstGeom>
          <a:solidFill>
            <a:srgbClr val="50E6FF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7772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50E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ASK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86384" y="10972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Help it scale responsibly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48640" y="2240280"/>
            <a:ext cx="3630168" cy="2743200"/>
          </a:xfrm>
          <a:prstGeom prst="rect">
            <a:avLst/>
          </a:prstGeom>
          <a:solidFill>
            <a:srgbClr val="102A4C"/>
          </a:solidFill>
          <a:ln w="12700">
            <a:solidFill>
              <a:srgbClr val="1F3A5C"/>
            </a:solidFill>
            <a:prstDash val="solid"/>
          </a:ln>
          <a:effectLst>
            <a:outerShdw sx="100000" sy="100000" kx="0" ky="0" algn="bl" rotWithShape="0" blurRad="114300" dist="38100" dir="5400000">
              <a:srgbClr val="0A1422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2240280"/>
            <a:ext cx="3630168" cy="109728"/>
          </a:xfrm>
          <a:prstGeom prst="rect">
            <a:avLst/>
          </a:prstGeom>
          <a:solidFill>
            <a:srgbClr val="50E6FF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2514600"/>
            <a:ext cx="31729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0E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777240" y="3154680"/>
            <a:ext cx="31729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Sponsorship / landing zone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77240" y="3794760"/>
            <a:ext cx="317296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9CA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Move off a personal subscription onto a funded, right-sized Azure environment with proper quotas and isolation.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471416" y="2240280"/>
            <a:ext cx="3630168" cy="2743200"/>
          </a:xfrm>
          <a:prstGeom prst="rect">
            <a:avLst/>
          </a:prstGeom>
          <a:solidFill>
            <a:srgbClr val="102A4C"/>
          </a:solidFill>
          <a:ln w="12700">
            <a:solidFill>
              <a:srgbClr val="1F3A5C"/>
            </a:solidFill>
            <a:prstDash val="solid"/>
          </a:ln>
          <a:effectLst>
            <a:outerShdw sx="100000" sy="100000" kx="0" ky="0" algn="bl" rotWithShape="0" blurRad="114300" dist="38100" dir="5400000">
              <a:srgbClr val="0A1422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471416" y="2240280"/>
            <a:ext cx="3630168" cy="109728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13" name="Text 11"/>
          <p:cNvSpPr/>
          <p:nvPr/>
        </p:nvSpPr>
        <p:spPr>
          <a:xfrm>
            <a:off x="4700016" y="2514600"/>
            <a:ext cx="31729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4700016" y="3154680"/>
            <a:ext cx="31729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Co-maintainers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700016" y="3794760"/>
            <a:ext cx="317296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9CA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Reduce the bus-factor of one and accelerate the roadmap with additional contributors.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394192" y="2240280"/>
            <a:ext cx="3630168" cy="2743200"/>
          </a:xfrm>
          <a:prstGeom prst="rect">
            <a:avLst/>
          </a:prstGeom>
          <a:solidFill>
            <a:srgbClr val="102A4C"/>
          </a:solidFill>
          <a:ln w="12700">
            <a:solidFill>
              <a:srgbClr val="1F3A5C"/>
            </a:solidFill>
            <a:prstDash val="solid"/>
          </a:ln>
          <a:effectLst>
            <a:outerShdw sx="100000" sy="100000" kx="0" ky="0" algn="bl" rotWithShape="0" blurRad="114300" dist="38100" dir="5400000">
              <a:srgbClr val="0A1422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394192" y="2240280"/>
            <a:ext cx="3630168" cy="109728"/>
          </a:xfrm>
          <a:prstGeom prst="rect">
            <a:avLst/>
          </a:prstGeom>
          <a:solidFill>
            <a:srgbClr val="2EC5CE"/>
          </a:solidFill>
          <a:ln/>
        </p:spPr>
      </p:sp>
      <p:sp>
        <p:nvSpPr>
          <p:cNvPr id="18" name="Text 16"/>
          <p:cNvSpPr/>
          <p:nvPr/>
        </p:nvSpPr>
        <p:spPr>
          <a:xfrm>
            <a:off x="8622792" y="2514600"/>
            <a:ext cx="31729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C5C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8622792" y="3154680"/>
            <a:ext cx="31729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Strategic reuse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8622792" y="3794760"/>
            <a:ext cx="317296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9CA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Package the validation + generation engine as a reusable skill for Learn / Copilot surfaces so impact compounds.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48640" y="54406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E93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Reproduce the numbers anytime:  ./scripts/usage-report.sh 120   ·   python3 scripts/llm-cost-report.py --days 30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E77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Azure Architecture Diagram Builder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77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Azure Architecture Diagram Builder — Overview</dc:title>
  <dc:subject>PptxGenJS Presentation</dc:subject>
  <dc:creator>Azure Architecture Diagram Builder</dc:creator>
  <cp:lastModifiedBy>Azure Architecture Diagram Builder</cp:lastModifiedBy>
  <cp:revision>1</cp:revision>
  <dcterms:created xsi:type="dcterms:W3CDTF">2026-06-22T18:19:36Z</dcterms:created>
  <dcterms:modified xsi:type="dcterms:W3CDTF">2026-06-22T18:19:36Z</dcterms:modified>
</cp:coreProperties>
</file>