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3B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12233B"/>
                </a:solidFill>
                <a:latin typeface="Segoe UI"/>
              </a:rPr>
              <a:t>Feature events · 28 Sep – 20 Oct 2026 · independent counts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233B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Template imports</c:v>
                  </c:pt>
                  <c:pt idx="1">
                    <c:v>WAF fixes applied</c:v>
                  </c:pt>
                  <c:pt idx="2">
                    <c:v>Deploy guides</c:v>
                  </c:pt>
                  <c:pt idx="3">
                    <c:v>Image imports</c:v>
                  </c:pt>
                  <c:pt idx="4">
                    <c:v>Version history</c:v>
                  </c:pt>
                  <c:pt idx="5">
                    <c:v>Region changes</c:v>
                  </c:pt>
                  <c:pt idx="6">
                    <c:v>WAF validations</c:v>
                  </c:pt>
                  <c:pt idx="7">
                    <c:v>Exports</c:v>
                  </c:pt>
                  <c:pt idx="8">
                    <c:v>Architectures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43</c:v>
                </c:pt>
                <c:pt idx="2">
                  <c:v>43</c:v>
                </c:pt>
                <c:pt idx="3">
                  <c:v>66</c:v>
                </c:pt>
                <c:pt idx="4">
                  <c:v>79</c:v>
                </c:pt>
                <c:pt idx="5">
                  <c:v>106</c:v>
                </c:pt>
                <c:pt idx="6">
                  <c:v>226</c:v>
                </c:pt>
                <c:pt idx="7">
                  <c:v>458</c:v>
                </c:pt>
                <c:pt idx="8">
                  <c:v>1012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2233B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B8C7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3B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12233B"/>
                </a:solidFill>
                <a:latin typeface="Segoe UI"/>
              </a:rPr>
              <a:t>Exports by format · 28 Sep – 20 Oct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Exports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233B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Workflow animation</c:v>
                  </c:pt>
                  <c:pt idx="1">
                    <c:v>PowerPoint slide</c:v>
                  </c:pt>
                  <c:pt idx="2">
                    <c:v>PowerPoint deck</c:v>
                  </c:pt>
                  <c:pt idx="3">
                    <c:v>Workflow (Markdown)</c:v>
                  </c:pt>
                  <c:pt idx="4">
                    <c:v>CSV</c:v>
                  </c:pt>
                  <c:pt idx="5">
                    <c:v>Visio</c:v>
                  </c:pt>
                  <c:pt idx="6">
                    <c:v>SVG</c:v>
                  </c:pt>
                  <c:pt idx="7">
                    <c:v>Draw.io</c:v>
                  </c:pt>
                  <c:pt idx="8">
                    <c:v>PNG</c:v>
                  </c:pt>
                  <c:pt idx="9">
                    <c:v>JSON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23</c:v>
                </c:pt>
                <c:pt idx="2">
                  <c:v>28</c:v>
                </c:pt>
                <c:pt idx="3">
                  <c:v>28</c:v>
                </c:pt>
                <c:pt idx="4">
                  <c:v>29</c:v>
                </c:pt>
                <c:pt idx="5">
                  <c:v>32</c:v>
                </c:pt>
                <c:pt idx="6">
                  <c:v>34</c:v>
                </c:pt>
                <c:pt idx="7">
                  <c:v>54</c:v>
                </c:pt>
                <c:pt idx="8">
                  <c:v>85</c:v>
                </c:pt>
                <c:pt idx="9">
                  <c:v>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2233B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B8C7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33B"/>
                </a:solidFill>
                <a:latin typeface="Segoe UI"/>
              </a:defRPr>
            </a:pPr>
            <a:r>
              <a:rPr sz="1400" b="0" i="0" u="none" strike="noStrike">
                <a:solidFill>
                  <a:srgbClr val="12233B"/>
                </a:solidFill>
                <a:latin typeface="Segoe UI"/>
              </a:rPr>
              <a:t>Top server model traffic · 28 Sep – 20 Oct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2EC5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2233B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Claude Sonnet 5.5</c:v>
                  </c:pt>
                  <c:pt idx="1">
                    <c:v>GPT-6 Astra</c:v>
                  </c:pt>
                  <c:pt idx="2">
                    <c:v>Claude Opus 5.5</c:v>
                  </c:pt>
                  <c:pt idx="3">
                    <c:v>GPT-6.1 Sol</c:v>
                  </c:pt>
                  <c:pt idx="4">
                    <c:v>GPT-5.6 Sol</c:v>
                  </c:pt>
                  <c:pt idx="5">
                    <c:v>GPT-5.6 Luna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62</c:v>
                </c:pt>
                <c:pt idx="2">
                  <c:v>82</c:v>
                </c:pt>
                <c:pt idx="3">
                  <c:v>100</c:v>
                </c:pt>
                <c:pt idx="4">
                  <c:v>912</c:v>
                </c:pt>
                <c:pt idx="5">
                  <c:v>1171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2233B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b"/>
        <c:majorGridlines>
          <c:spPr>
            <a:ln w="12700" cap="flat">
              <a:solidFill>
                <a:srgbClr val="B8C7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1143000"/>
            <a:ext cx="1280160" cy="640080"/>
          </a:xfrm>
          <a:prstGeom prst="line">
            <a:avLst/>
          </a:prstGeom>
          <a:noFill/>
          <a:ln w="25400">
            <a:solidFill>
              <a:srgbClr val="2445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1143000"/>
            <a:ext cx="1280160" cy="0"/>
          </a:xfrm>
          <a:prstGeom prst="line">
            <a:avLst/>
          </a:prstGeom>
          <a:noFill/>
          <a:ln w="25400">
            <a:solidFill>
              <a:srgbClr val="2445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005840"/>
            <a:ext cx="310896" cy="310896"/>
          </a:xfrm>
          <a:prstGeom prst="ellipse">
            <a:avLst/>
          </a:prstGeom>
          <a:solidFill>
            <a:srgbClr val="50E6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777240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0" y="1554480"/>
            <a:ext cx="310896" cy="310896"/>
          </a:xfrm>
          <a:prstGeom prst="ellipse">
            <a:avLst/>
          </a:prstGeom>
          <a:solidFill>
            <a:srgbClr val="2EC5CE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 Builder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 conversation, a sketch or a live estate to a validated, deployable Azure design.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3072384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1772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Type, talk, sketch or import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23944" y="461772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3944" y="461772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AI models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88736" y="461772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8736" y="4617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 + cost + IaC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37576" y="4617720"/>
            <a:ext cx="1632204" cy="420624"/>
          </a:xfrm>
          <a:prstGeom prst="roundRect">
            <a:avLst>
              <a:gd name="adj" fmla="val 50000"/>
            </a:avLst>
          </a:prstGeom>
          <a:solidFill>
            <a:srgbClr val="102A4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37576" y="4617720"/>
            <a:ext cx="16322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+ MCP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AADB v2.1.10 · October 2026 · aka.ms/diagram-builder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46304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workspace from first idea to deployable artifact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7178" cy="2697480"/>
          </a:xfrm>
          <a:prstGeom prst="rect">
            <a:avLst/>
          </a:prstGeom>
          <a:solidFill>
            <a:srgbClr val="102A4C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2567178" cy="1097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8483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9808" y="3291840"/>
            <a:ext cx="216484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 brief, talk it through with Ava, upload a sketch, or import ARM, Bicep, Terraform or a live resource group.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0138" y="1828800"/>
            <a:ext cx="2567178" cy="2697480"/>
          </a:xfrm>
          <a:prstGeom prst="rect">
            <a:avLst/>
          </a:prstGeom>
          <a:solidFill>
            <a:srgbClr val="102A4C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0138" y="1828800"/>
            <a:ext cx="2567178" cy="1097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91306" y="208483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91306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91306" y="3291840"/>
            <a:ext cx="216484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the canvas directly, or ask Guided Chat or Ava for deliberate, minimal changes that keep your layout.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1636" y="1828800"/>
            <a:ext cx="2567178" cy="2697480"/>
          </a:xfrm>
          <a:prstGeom prst="rect">
            <a:avLst/>
          </a:prstGeom>
          <a:solidFill>
            <a:srgbClr val="102A4C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1636" y="1828800"/>
            <a:ext cx="2567178" cy="109728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7" name="Text 15"/>
          <p:cNvSpPr/>
          <p:nvPr/>
        </p:nvSpPr>
        <p:spPr>
          <a:xfrm>
            <a:off x="6432804" y="208483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32804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32804" y="3291840"/>
            <a:ext cx="216484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Well-Architected gaps, apply fixes, compare 14 models, and price the design across 14 Azure regions.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73134" y="1828800"/>
            <a:ext cx="2567178" cy="2697480"/>
          </a:xfrm>
          <a:prstGeom prst="rect">
            <a:avLst/>
          </a:prstGeom>
          <a:solidFill>
            <a:srgbClr val="102A4C"/>
          </a:solidFill>
          <a:ln w="12700">
            <a:solidFill>
              <a:srgbClr val="1C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3134" y="1828800"/>
            <a:ext cx="2567178" cy="1097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9274302" y="2084832"/>
            <a:ext cx="220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274302" y="2788920"/>
            <a:ext cx="220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274302" y="3291840"/>
            <a:ext cx="216484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slides, Visio, draw.io and images, generate Bicep deployment guides, or call it from agents via MCP.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across the field, not just demoed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Jul – 16 Oct 2026 · browser telemetry from both production environments, de-duplicated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71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256717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2,857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users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90138" y="1920240"/>
            <a:ext cx="25671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0138" y="1920240"/>
            <a:ext cx="2567178" cy="9144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2" name="Text 10"/>
          <p:cNvSpPr/>
          <p:nvPr/>
        </p:nvSpPr>
        <p:spPr>
          <a:xfrm>
            <a:off x="3390138" y="233172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7,892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81578" y="342900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architectures generated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1636" y="1920240"/>
            <a:ext cx="25671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1636" y="1920240"/>
            <a:ext cx="2567178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31636" y="233172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323076" y="342900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73134" y="1920240"/>
            <a:ext cx="256717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73134" y="1920240"/>
            <a:ext cx="2567178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9073134" y="233172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6,147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164574" y="3429000"/>
            <a:ext cx="238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visitors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1091672" cy="114300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measure: </a:t>
            </a:r>
            <a:pPr indent="0" marL="0">
              <a:buNone/>
            </a:pPr>
            <a:r>
              <a:rPr lang="en-US" sz="15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events, counts and coarse geography. </a:t>
            </a:r>
            <a:pPr indent="0" marL="0">
              <a:buNone/>
            </a:pPr>
            <a:r>
              <a:rPr lang="en-US" sz="15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never collect: </a:t>
            </a:r>
            <a:pPr indent="0" marL="0">
              <a:buNone/>
            </a:pPr>
            <a:r>
              <a:rPr lang="en-US" sz="15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prompts, diagram content, model responses, credentials or raw IPs.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product with a steady release cadence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verified on 2026-10-21 · six releases since 12 Oct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256717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8483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v2.1.10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84927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web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0138" y="182880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0138" y="1828800"/>
            <a:ext cx="2567178" cy="9144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2" name="Text 10"/>
          <p:cNvSpPr/>
          <p:nvPr/>
        </p:nvSpPr>
        <p:spPr>
          <a:xfrm>
            <a:off x="3390138" y="208483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81578" y="284927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models on Microsoft Foundry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1636" y="182880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1636" y="1828800"/>
            <a:ext cx="2567178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31636" y="208483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23076" y="284927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pricing regions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73134" y="182880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73134" y="1828800"/>
            <a:ext cx="256717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9073134" y="208483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64574" y="284927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MCP tools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749040"/>
            <a:ext cx="2567178" cy="9144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0507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Live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0080" y="476951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out loud with Ava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90138" y="374904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90138" y="3749040"/>
            <a:ext cx="2567178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6"/>
          <p:cNvSpPr/>
          <p:nvPr/>
        </p:nvSpPr>
        <p:spPr>
          <a:xfrm>
            <a:off x="3390138" y="400507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IQ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481578" y="476951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IQ, Foundry IQ, Work IQ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1636" y="374904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1636" y="3749040"/>
            <a:ext cx="2567178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2" name="Text 30"/>
          <p:cNvSpPr/>
          <p:nvPr/>
        </p:nvSpPr>
        <p:spPr>
          <a:xfrm>
            <a:off x="6231636" y="400507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Blueprint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323076" y="476951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Presentation-ready output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73134" y="3749040"/>
            <a:ext cx="256717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73134" y="3749040"/>
            <a:ext cx="256717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6" name="Text 34"/>
          <p:cNvSpPr/>
          <p:nvPr/>
        </p:nvSpPr>
        <p:spPr>
          <a:xfrm>
            <a:off x="9073134" y="4005072"/>
            <a:ext cx="2567178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azd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164574" y="4769510"/>
            <a:ext cx="238429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Greenfield self-deployment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interfaces, one design system: </a:t>
            </a:r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interactive web app for people and deterministic MCP tools for agents.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go past generation to validation and delivery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554480"/>
            <a:ext cx="3931920" cy="448056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0" y="1554480"/>
            <a:ext cx="3931920" cy="1097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23 DAYS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329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795528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users in 37 countries, 530 sessions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NEW USERS START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3931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Chat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058400" y="3931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121 users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55280" y="4389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or image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058400" y="4389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 users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955280" y="4846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import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058400" y="4846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users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955280" y="5303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import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058400" y="5303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users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canvas, the whole architecture lifecycle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20116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92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22494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ways 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5603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brief, a voice conversation, an image or whiteboard photo, an ARM/Bicep/Terraform template, or a live resource group.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645920"/>
            <a:ext cx="91440" cy="201168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792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44568" y="22494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+ refine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44568" y="25603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any of 14 models, then refine with Guided Chat or Ava and keep your canvas edits.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645920"/>
            <a:ext cx="91440" cy="2011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1792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9328" y="22494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Topology + Blueprint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9328" y="25603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editable engineering view and a polished whiteboard-style view from one brief.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31920"/>
            <a:ext cx="91440" cy="20116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78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" y="45354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Evidence-aware review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9808" y="48463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diagram-level WAF gaps, apply recommendations, and compare model critiques with a narrated avatar.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9319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931920"/>
            <a:ext cx="91440" cy="201168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078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44568" y="45354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with provenance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44568" y="48463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Azure Retail Prices across 14 regions, PAYG or 1-year, with Fabric capacity and IQ services priced.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931920"/>
            <a:ext cx="350215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3931920"/>
            <a:ext cx="91440" cy="2011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4078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339328" y="453542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and extend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39328" y="484632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Full-resolution slides, Visio, draw.io and images; Bicep deployment guides; 13 deterministic MCP tools.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releases in ten days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04288"/>
            <a:ext cx="11091672" cy="54864"/>
          </a:xfrm>
          <a:prstGeom prst="rect">
            <a:avLst/>
          </a:prstGeom>
          <a:solidFill>
            <a:srgbClr val="D9E2EC"/>
          </a:solidFill>
          <a:ln/>
        </p:spPr>
      </p:sp>
      <p:sp>
        <p:nvSpPr>
          <p:cNvPr id="6" name="Shape 4"/>
          <p:cNvSpPr/>
          <p:nvPr/>
        </p:nvSpPr>
        <p:spPr>
          <a:xfrm>
            <a:off x="1502359" y="2176272"/>
            <a:ext cx="310896" cy="310896"/>
          </a:xfrm>
          <a:prstGeom prst="ellipse">
            <a:avLst/>
          </a:prstGeom>
          <a:solidFill>
            <a:srgbClr val="0078D4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v2.1.5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Oct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194401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743200"/>
            <a:ext cx="1944014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3017520"/>
            <a:ext cx="1614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your narrator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0392" y="3520440"/>
            <a:ext cx="1614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avatars and 12 voices to choose from; session leaks fixed.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20694" y="2176272"/>
            <a:ext cx="310896" cy="310896"/>
          </a:xfrm>
          <a:prstGeom prst="ellipse">
            <a:avLst/>
          </a:prstGeom>
          <a:solidFill>
            <a:srgbClr val="2EC5CE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6974" y="1600200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v2.1.6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66974" y="1920240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Oct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4134" y="2743200"/>
            <a:ext cx="194401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04134" y="2743200"/>
            <a:ext cx="1944014" cy="9144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8" name="Text 16"/>
          <p:cNvSpPr/>
          <p:nvPr/>
        </p:nvSpPr>
        <p:spPr>
          <a:xfrm>
            <a:off x="3068726" y="3017520"/>
            <a:ext cx="1614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Readable imports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068726" y="3520440"/>
            <a:ext cx="1614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edge labels and resource names from ARM and live Azure; named MCP keys.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39028" y="2176272"/>
            <a:ext cx="310896" cy="310896"/>
          </a:xfrm>
          <a:prstGeom prst="ellipse">
            <a:avLst/>
          </a:prstGeom>
          <a:solidFill>
            <a:srgbClr val="50E6FF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5309" y="1600200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v2.1.7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85309" y="1920240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Oct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2469" y="2743200"/>
            <a:ext cx="194401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2469" y="2743200"/>
            <a:ext cx="1944014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5" name="Text 23"/>
          <p:cNvSpPr/>
          <p:nvPr/>
        </p:nvSpPr>
        <p:spPr>
          <a:xfrm>
            <a:off x="5287061" y="3017520"/>
            <a:ext cx="1614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 it through with Ava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287061" y="3520440"/>
            <a:ext cx="1614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Live in Guided Chat: Ava asks, draws and refines the diagram herself.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7362" y="2176272"/>
            <a:ext cx="310896" cy="310896"/>
          </a:xfrm>
          <a:prstGeom prst="ellipse">
            <a:avLst/>
          </a:prstGeom>
          <a:solidFill>
            <a:srgbClr val="F2A900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03643" y="1600200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v2.1.8–9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03643" y="1920240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Oct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40803" y="2743200"/>
            <a:ext cx="194401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40803" y="2743200"/>
            <a:ext cx="1944014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2" name="Text 30"/>
          <p:cNvSpPr/>
          <p:nvPr/>
        </p:nvSpPr>
        <p:spPr>
          <a:xfrm>
            <a:off x="7505395" y="3017520"/>
            <a:ext cx="1614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IQ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505395" y="3520440"/>
            <a:ext cx="1614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Fabric, Foundry and Work IQ as named services; Fabric capacity always priced.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375697" y="2176272"/>
            <a:ext cx="310896" cy="310896"/>
          </a:xfrm>
          <a:prstGeom prst="ellipse">
            <a:avLst/>
          </a:prstGeom>
          <a:solidFill>
            <a:srgbClr val="3FB950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21978" y="1600200"/>
            <a:ext cx="22183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v2.1.10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421978" y="1920240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Oct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559138" y="2743200"/>
            <a:ext cx="194401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559138" y="2743200"/>
            <a:ext cx="1944014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9" name="Text 37"/>
          <p:cNvSpPr/>
          <p:nvPr/>
        </p:nvSpPr>
        <p:spPr>
          <a:xfrm>
            <a:off x="9723730" y="3017520"/>
            <a:ext cx="16148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Full-size exports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723730" y="3520440"/>
            <a:ext cx="16148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Slides and images show the diagram itself at up to 8000 px, no canvas chrome.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4846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9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notes: DOCS/RELEASE-NOTES.md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output leaves the canvas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554480"/>
            <a:ext cx="38221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18120" y="1554480"/>
            <a:ext cx="91440" cy="12984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5"/>
          <p:cNvSpPr/>
          <p:nvPr/>
        </p:nvSpPr>
        <p:spPr>
          <a:xfrm>
            <a:off x="8074152" y="1719072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074152" y="2340864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 by 105 users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18120" y="3145536"/>
            <a:ext cx="38221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18120" y="3145536"/>
            <a:ext cx="91440" cy="1298448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2" name="Text 9"/>
          <p:cNvSpPr/>
          <p:nvPr/>
        </p:nvSpPr>
        <p:spPr>
          <a:xfrm>
            <a:off x="8074152" y="3310128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074152" y="393192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 deployment guides by 23 users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818120" y="4736592"/>
            <a:ext cx="38221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233247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818120" y="4736592"/>
            <a:ext cx="91440" cy="12984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3"/>
          <p:cNvSpPr/>
          <p:nvPr/>
        </p:nvSpPr>
        <p:spPr>
          <a:xfrm>
            <a:off x="8074152" y="4901184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074152" y="5522976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IaC template imports by 14 users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5669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Multi-model by design, measured at the 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models on Microsoft Foundry: GPT-6.x, GPT-5.6, Claude, MAI, DeepSeek, Grok, Mistral and Kimi.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783080"/>
            <a:ext cx="4069080" cy="420624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783080"/>
            <a:ext cx="4069080" cy="1097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057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 TRAFFIC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2377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2,560 calls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818120" y="31089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13.1M tokens processed. 2,535 requests succeeded (99.0%); 3 were throttled.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18120" y="4160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</a:t>
            </a:r>
            <a:pPr indent="0" marL="0">
              <a:buNone/>
            </a:pPr>
            <a:r>
              <a:rPr lang="en-US" sz="13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model proxy, every model and helper call. Window: 28 Sep – 20 Oct 2026.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46304" cy="5669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Keyless, private and reversible by default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7178" cy="182880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2567178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292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requests succeeded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0138" y="1920240"/>
            <a:ext cx="2567178" cy="182880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0138" y="1920240"/>
            <a:ext cx="2567178" cy="9144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1" name="Text 9"/>
          <p:cNvSpPr/>
          <p:nvPr/>
        </p:nvSpPr>
        <p:spPr>
          <a:xfrm>
            <a:off x="3390138" y="224028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27298" y="2971800"/>
            <a:ext cx="2292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 in the browser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1636" y="1920240"/>
            <a:ext cx="2567178" cy="182880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1636" y="1920240"/>
            <a:ext cx="2567178" cy="91440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5" name="Text 13"/>
          <p:cNvSpPr/>
          <p:nvPr/>
        </p:nvSpPr>
        <p:spPr>
          <a:xfrm>
            <a:off x="6231636" y="224028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cmd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68796" y="2971800"/>
            <a:ext cx="2292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to last release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73134" y="1920240"/>
            <a:ext cx="2567178" cy="182880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3134" y="1920240"/>
            <a:ext cx="2567178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9073134" y="2240280"/>
            <a:ext cx="2567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210294" y="2971800"/>
            <a:ext cx="2292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revocable MCP client keys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091672" cy="1554480"/>
          </a:xfrm>
          <a:prstGeom prst="rect">
            <a:avLst/>
          </a:prstGeom>
          <a:solidFill>
            <a:srgbClr val="0E274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C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identity to Foundry, Speech, Cosmos DB and the registry, inside a private network. </a:t>
            </a:r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release is health-checked before it takes traffic.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architecture, four moves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567178" cy="219456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40280"/>
            <a:ext cx="2567178" cy="1097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 the workload through with Ava, or import an existing resource group.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90138" y="2240280"/>
            <a:ext cx="2567178" cy="219456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138" y="2240280"/>
            <a:ext cx="2567178" cy="1097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3618738" y="25146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8738" y="31089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8738" y="352044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one requirement by voice or Guided Chat and watch only that change.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1636" y="2240280"/>
            <a:ext cx="2567178" cy="219456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1636" y="2240280"/>
            <a:ext cx="2567178" cy="109728"/>
          </a:xfrm>
          <a:prstGeom prst="rect">
            <a:avLst/>
          </a:prstGeom>
          <a:solidFill>
            <a:srgbClr val="2EC5CE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25146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5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60236" y="31089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60236" y="352044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 WAF gap, apply the fix, compare regional cost.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73134" y="2240280"/>
            <a:ext cx="2567178" cy="2194560"/>
          </a:xfrm>
          <a:prstGeom prst="rect">
            <a:avLst/>
          </a:prstGeom>
          <a:solidFill>
            <a:srgbClr val="102A4C"/>
          </a:solidFill>
          <a:ln w="12700">
            <a:solidFill>
              <a:srgbClr val="1F3A5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422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73134" y="2240280"/>
            <a:ext cx="2567178" cy="1097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301734" y="25146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01734" y="31089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01734" y="352044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A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the slide and Bicep guide, or call the same logic through MCP.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93776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it:  aka.ms/diagram-builder   ·   Current production version: v2.1.10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Architecture Diagram Builder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3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Architecture Diagram Builder — Overview</dc:title>
  <dc:subject>PptxGenJS Presentation</dc:subject>
  <dc:creator>Azure Architecture Diagram Builder</dc:creator>
  <cp:lastModifiedBy>Azure Architecture Diagram Builder</cp:lastModifiedBy>
  <cp:revision>1</cp:revision>
  <dcterms:created xsi:type="dcterms:W3CDTF">2026-10-21T18:45:16Z</dcterms:created>
  <dcterms:modified xsi:type="dcterms:W3CDTF">2026-10-21T18:45:16Z</dcterms:modified>
</cp:coreProperties>
</file>