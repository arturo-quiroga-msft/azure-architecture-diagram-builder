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Shape 2"/>
          <p:cNvSpPr/>
          <p:nvPr/>
        </p:nvSpPr>
        <p:spPr>
          <a:xfrm>
            <a:off x="9555480" y="914400"/>
            <a:ext cx="1737360" cy="219456"/>
          </a:xfrm>
          <a:prstGeom prst="rect">
            <a:avLst/>
          </a:prstGeom>
          <a:solidFill>
            <a:srgbClr val="0078D4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72523" y="1207008"/>
            <a:ext cx="1737360" cy="219456"/>
          </a:xfrm>
          <a:prstGeom prst="rect">
            <a:avLst/>
          </a:prstGeom>
          <a:solidFill>
            <a:srgbClr val="2EC5CE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9566" y="1499616"/>
            <a:ext cx="1737360" cy="219456"/>
          </a:xfrm>
          <a:prstGeom prst="rect">
            <a:avLst/>
          </a:prstGeom>
          <a:solidFill>
            <a:srgbClr val="50E6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AADB Runs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Platform, identity, releases, Voice Live, MCP and pricing behind AADB.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201625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17720"/>
            <a:ext cx="2016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Keyless by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0380" y="4617720"/>
            <a:ext cx="2208276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0380" y="4617720"/>
            <a:ext cx="2208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Reversible releases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9824" y="461772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4617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Live relay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71232" y="461772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461772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MCP tools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08592" y="4617720"/>
            <a:ext cx="201625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4617720"/>
            <a:ext cx="2016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14-region pricing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deep dive · L300 · AADB v2.1.10 · October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AT A GLANCE   </a:t>
            </a:r>
            <a:pPr indent="0" marL="0">
              <a:buNone/>
            </a:pPr>
            <a:r>
              <a:rPr lang="en-US" sz="130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drawn by AADB itself through its render_diagram MCP tool</a:t>
            </a:r>
            <a:endParaRPr lang="en-US" sz="1300" dirty="0"/>
          </a:p>
        </p:txBody>
      </p:sp>
      <p:pic>
        <p:nvPicPr>
          <p:cNvPr id="3" name="Image 0" descr="/Users/arturoquiroga/REPOSITORIES/aadb-iq/decks/platform-deep-dive/aadb-ru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" y="731520"/>
            <a:ext cx="11247120" cy="4962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8315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arrow into Azure services uses the app's managed identity; the only keys in the system are the hashed MCP client keys.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Keyless by design: every hop, how it authenticates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solidFill>
            <a:srgbClr val="0B1F3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947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→ token server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needed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origin; no keys or model endpoints in the bundle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1672" cy="457200"/>
          </a:xfrm>
          <a:prstGeom prst="rect">
            <a:avLst/>
          </a:prstGeom>
          <a:solidFill>
            <a:srgbClr val="EEF3F9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server → Foundry (14 models)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Cognitive Services User + Foundry User roles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server → Voice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947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opens the realtime session; browser only streams audio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1091672" cy="457200"/>
          </a:xfrm>
          <a:prstGeom prst="rect">
            <a:avLst/>
          </a:prstGeom>
          <a:solidFill>
            <a:srgbClr val="EEF3F9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→ Speech avatar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9476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Short-lived Entra token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33375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Minted per session by /api/speech-token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server → Cosmos DB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9476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Contributor; local auth off; private endpoint 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11091672" cy="457200"/>
          </a:xfrm>
          <a:prstGeom prst="rect">
            <a:avLst/>
          </a:prstGeom>
          <a:solidFill>
            <a:srgbClr val="EEF3F9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Apps → registry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9476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17920" y="42519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AcrPull; no registry admin credentials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→ Azure (Import)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79476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user's own token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17920" y="47091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MSAL delegated sign-in; Resource Graph runs with the user's RBAC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solidFill>
            <a:srgbClr val="EEF3F9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→ MCP server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79476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API key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17920" y="516636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SHA-256 hashes stored; revocable per client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no API key or secret ever reaches the browser, and none is stored for any Azure service.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container per app, inside a private network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480560"/>
          </a:xfrm>
          <a:prstGeom prst="rect">
            <a:avLst/>
          </a:prstGeom>
          <a:solidFill>
            <a:srgbClr val="EAF2FB"/>
          </a:solidFill>
          <a:ln w="19050">
            <a:solidFill>
              <a:srgbClr val="0078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VNet 10.60.0.0/22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931920" cy="3749040"/>
          </a:xfrm>
          <a:prstGeom prst="rect">
            <a:avLst/>
          </a:prstGeom>
          <a:solidFill>
            <a:srgbClr val="FFFFFF"/>
          </a:solidFill>
          <a:ln w="15875">
            <a:solidFill>
              <a:srgbClr val="876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Apps environment · subnet /23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514600"/>
            <a:ext cx="356616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14600"/>
            <a:ext cx="73152" cy="1691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87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azure-diagram-builder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serves the React SPA and proxies /api to the Node token server in the same container: model proxy, Voice Live relay, speech tokens, feedback, health and readiness.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4343400"/>
            <a:ext cx="35661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2EC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343400"/>
            <a:ext cx="73152" cy="128016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416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azure-diagram-mcp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709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over Streamable HTTP (/mcp) with /healthz; the same tools run locally over stdio.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83480" y="2057400"/>
            <a:ext cx="196596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2148840"/>
            <a:ext cx="1746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endpoints · /27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DB, resolved through the private DNS zone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privatelink.documents.azure.com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1554480"/>
            <a:ext cx="4233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554480"/>
            <a:ext cx="91440" cy="1371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6916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0" y="205740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tags v&lt;version&gt;-&lt;git sha&gt;, built in Azure Container Registry and pulled with managed identity.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3108960"/>
            <a:ext cx="4233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06640" y="3108960"/>
            <a:ext cx="91440" cy="137160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324612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80960" y="361188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/api/ready gates each revision; /api/health reports the running version.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4663440"/>
            <a:ext cx="4233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4663440"/>
            <a:ext cx="91440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48006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0" y="516636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active revision keeps a replica warm; after a release only the newest three stay active.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release is a reversible experiment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620012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84248"/>
            <a:ext cx="475488" cy="47548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gate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package.json is the single version source; an equal or older version is rejected.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68652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442972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2972" y="1691640"/>
            <a:ext cx="1620012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5852" y="1984248"/>
            <a:ext cx="475488" cy="475488"/>
          </a:xfrm>
          <a:prstGeom prst="ellipse">
            <a:avLst/>
          </a:prstGeom>
          <a:solidFill>
            <a:srgbClr val="2EC5CE"/>
          </a:solidFill>
          <a:ln/>
        </p:spPr>
      </p:sp>
      <p:sp>
        <p:nvSpPr>
          <p:cNvPr id="15" name="Text 13"/>
          <p:cNvSpPr/>
          <p:nvPr/>
        </p:nvSpPr>
        <p:spPr>
          <a:xfrm>
            <a:off x="2625852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7564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image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7564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v&lt;ver&gt;-&lt;sha&gt;; a dirty worktree is refused, so the image is exactly a commit.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62984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37304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7304" y="1691640"/>
            <a:ext cx="1620012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0184" y="1984248"/>
            <a:ext cx="475488" cy="475488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20184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01896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revision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1896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with readiness probes while production traffic stays pinned to the current revision.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57316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231636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31636" y="1691640"/>
            <a:ext cx="1620012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4516" y="1984248"/>
            <a:ext cx="475488" cy="47548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6414516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96228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smoke test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96228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and version checked on the candidate's own URL before it sees users.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51648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8125968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25968" y="1691640"/>
            <a:ext cx="1620012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5" name="Shape 33"/>
          <p:cNvSpPr/>
          <p:nvPr/>
        </p:nvSpPr>
        <p:spPr>
          <a:xfrm>
            <a:off x="8308848" y="1984248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6" name="Text 34"/>
          <p:cNvSpPr/>
          <p:nvPr/>
        </p:nvSpPr>
        <p:spPr>
          <a:xfrm>
            <a:off x="830884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90560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switch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90560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moves to the candidate; the previous revision stays active at 0%.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745980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10020300" y="1691640"/>
            <a:ext cx="162001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20300" y="1691640"/>
            <a:ext cx="1620012" cy="9144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03180" y="1984248"/>
            <a:ext cx="475488" cy="475488"/>
          </a:xfrm>
          <a:prstGeom prst="ellipse">
            <a:avLst/>
          </a:prstGeom>
          <a:solidFill>
            <a:srgbClr val="8764B8"/>
          </a:solidFill>
          <a:ln/>
        </p:spPr>
      </p:sp>
      <p:sp>
        <p:nvSpPr>
          <p:cNvPr id="43" name="Text 41"/>
          <p:cNvSpPr/>
          <p:nvPr/>
        </p:nvSpPr>
        <p:spPr>
          <a:xfrm>
            <a:off x="1020318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184892" y="2606040"/>
            <a:ext cx="13456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One-command rollback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184892" y="3246120"/>
            <a:ext cx="13456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script prints the exact command to move traffic back.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4937760"/>
            <a:ext cx="11091672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937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</a:t>
            </a:r>
            <a:pPr indent="0" marL="0">
              <a:buNone/>
            </a:pPr>
            <a:r>
              <a:rPr lang="en-US" sz="14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v2.1.10 serves production with v2.1.9 one command away · six releases shipped this way in ten days.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release gate for laptops, pull requests and Azure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675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verify:release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233172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check:lockfiles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dependency resolves through the package proxy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2935224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8437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 + lint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49040" y="2843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strict checks and ESLint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3538728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+ bundle budget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3447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build stays inside measured size limits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142232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050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test:deterministic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49040" y="4050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regression suites: layout, imports, pricing, guards, telemetry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" y="4745736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4654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test:version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49040" y="46542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UI, /version.json and package.json agree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" y="534924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5257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test:smoke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4904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drives a mocked generation workflow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1554480"/>
            <a:ext cx="4096512" cy="448056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3800" y="1554480"/>
            <a:ext cx="4096512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28800"/>
            <a:ext cx="3547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6400" dirty="0"/>
          </a:p>
        </p:txBody>
      </p:sp>
      <p:sp>
        <p:nvSpPr>
          <p:cNvPr id="34" name="Text 32"/>
          <p:cNvSpPr/>
          <p:nvPr/>
        </p:nvSpPr>
        <p:spPr>
          <a:xfrm>
            <a:off x="7818120" y="2834640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regression suites, no model calls, so they are fast and repeatable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18120" y="3611880"/>
            <a:ext cx="35478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gate everywhere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requests, pushes to main and the manual Azure workflow all run it. CI also runs the MCP server's catalog, contract and rendering tests.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LIVE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 draws the diagram, but never sees a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017520" cy="777240"/>
          </a:xfrm>
          <a:prstGeom prst="rect">
            <a:avLst/>
          </a:prstGeom>
          <a:solidFill>
            <a:srgbClr val="102A4C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02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 audio · canvas · generation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2377440"/>
            <a:ext cx="0" cy="3108960"/>
          </a:xfrm>
          <a:prstGeom prst="line">
            <a:avLst/>
          </a:prstGeom>
          <a:noFill/>
          <a:ln w="15875">
            <a:solidFill>
              <a:srgbClr val="35557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solidFill>
            <a:srgbClr val="102A4C"/>
          </a:solidFill>
          <a:ln w="19050">
            <a:solidFill>
              <a:srgbClr val="2EC5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Relay · /api/voice-live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002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model, voice, instructions and tools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2377440"/>
            <a:ext cx="0" cy="3108960"/>
          </a:xfrm>
          <a:prstGeom prst="line">
            <a:avLst/>
          </a:prstGeom>
          <a:noFill/>
          <a:ln w="15875">
            <a:solidFill>
              <a:srgbClr val="35557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321040" y="1600200"/>
            <a:ext cx="3017520" cy="777240"/>
          </a:xfrm>
          <a:prstGeom prst="rect">
            <a:avLst/>
          </a:prstGeom>
          <a:solidFill>
            <a:srgbClr val="102A4C"/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Live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002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gpt-realtime-2.1 · Ava HD voice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9800" y="2377440"/>
            <a:ext cx="0" cy="3108960"/>
          </a:xfrm>
          <a:prstGeom prst="line">
            <a:avLst/>
          </a:prstGeom>
          <a:noFill/>
          <a:ln w="15875">
            <a:solidFill>
              <a:srgbClr val="35557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331720" y="2788920"/>
            <a:ext cx="374904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423160" y="2478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WebSocket: microphone audio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291840"/>
            <a:ext cx="3749040" cy="0"/>
          </a:xfrm>
          <a:prstGeom prst="line">
            <a:avLst/>
          </a:prstGeom>
          <a:noFill/>
          <a:ln w="25400">
            <a:solidFill>
              <a:srgbClr val="2EC5C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172200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opened with managed identity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794760"/>
            <a:ext cx="3749040" cy="0"/>
          </a:xfrm>
          <a:prstGeom prst="line">
            <a:avLst/>
          </a:prstGeom>
          <a:noFill/>
          <a:ln w="25400">
            <a:solidFill>
              <a:srgbClr val="8764B8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6172200" y="3483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call: draw_architecture(brief)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4297680"/>
            <a:ext cx="3749040" cy="0"/>
          </a:xfrm>
          <a:prstGeom prst="line">
            <a:avLst/>
          </a:prstGeom>
          <a:noFill/>
          <a:ln w="25400">
            <a:solidFill>
              <a:srgbClr val="2EC5CE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242316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call; browser runs the pipeline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4800600"/>
            <a:ext cx="374904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423160" y="4489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tool.result for that call_id only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5303520"/>
            <a:ext cx="3749040" cy="0"/>
          </a:xfrm>
          <a:prstGeom prst="line">
            <a:avLst/>
          </a:prstGeom>
          <a:noFill/>
          <a:ln w="25400">
            <a:solidFill>
              <a:srgbClr val="2EC5C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172200" y="4992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returned; Ava speaks the outcome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577840"/>
            <a:ext cx="10515600" cy="566928"/>
          </a:xfrm>
          <a:prstGeom prst="rect">
            <a:avLst/>
          </a:prstGeom>
          <a:solidFill>
            <a:srgbClr val="0E2746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5778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Guards: client-event allow-list · 256 KB frames · tool output capped at 8,000 chars · results only for calls the model made · 5 sessions × 10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design logic as 13 deterministic MCP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14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60146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8308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2235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list_services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validate_architecture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harden_architecture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get_waf_rules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8708" y="1554480"/>
            <a:ext cx="26014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8708" y="1554480"/>
            <a:ext cx="2601468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1" name="Text 9"/>
          <p:cNvSpPr/>
          <p:nvPr/>
        </p:nvSpPr>
        <p:spPr>
          <a:xfrm>
            <a:off x="3579876" y="178308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9876" y="2240280"/>
            <a:ext cx="2235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estimate_costs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compare_region_costs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1554480"/>
            <a:ext cx="26014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554480"/>
            <a:ext cx="2601468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9944" y="2240280"/>
            <a:ext cx="2235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generate_bicep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generate_terraform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generate_deployment_guide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generate_manifest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38844" y="1554480"/>
            <a:ext cx="26014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38844" y="1554480"/>
            <a:ext cx="2601468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9240012" y="178308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Interop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40012" y="2240280"/>
            <a:ext cx="22357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render_diagram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export_reactflow_scene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import_architecture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544824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structuredContent with declared output schemas; 3 resources and 3 starter prompts.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2064" y="4069080"/>
            <a:ext cx="3544824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50664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Transports + auth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0664" y="457200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stdio locally; Streamable HTTP hosted with named API keys (hashes only), optional Entra for self-hosting.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5488" y="4069080"/>
            <a:ext cx="3544824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324088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4088" y="4572000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in VS Code, Copilot CLI, Microsoft Scout and the Azure SRE Agent.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retail prices, shipped with the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671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56717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0992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pricing regions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508760"/>
            <a:ext cx="25671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0138" y="1508760"/>
            <a:ext cx="2567178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1" name="Text 9"/>
          <p:cNvSpPr/>
          <p:nvPr/>
        </p:nvSpPr>
        <p:spPr>
          <a:xfrm>
            <a:off x="3390138" y="170992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81578" y="2423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queries per region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1636" y="1508760"/>
            <a:ext cx="25671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508760"/>
            <a:ext cx="2567178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636" y="170992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1,043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23076" y="2423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files downloaded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73134" y="1508760"/>
            <a:ext cx="25671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3134" y="1508760"/>
            <a:ext cx="2567178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9073134" y="170992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Sep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64574" y="2423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snapshot (2026)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91440" cy="43891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Snapshot, not live calls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154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Retail Prices data ships as per-region JSON: fast, offline, deterministic.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91440" cy="438912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703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 selection rules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11880" y="3703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representative meter per service and tier; duplicate restatements demoted.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91440" cy="438912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251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terms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1188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Pay-as-you-go or a 1-year term; a SKU without a 1-year meter stays at pay-as-you-go.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00600"/>
            <a:ext cx="91440" cy="43891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8006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about usage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11880" y="4800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Usage-based services show ranges; exports carry a "Prices as of" stamp.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91440" cy="43891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349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and Microsoft IQ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11880" y="53492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Capacity (F2–F2048) carries the cost; Foundry IQ prices as AI Search.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telemetry planes, each answering one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4482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544824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used?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· Application Insights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events, counts and coarse geography; never prompts, diagrams or model output.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3087624" cy="41148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947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329 users · 37 countries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2064" y="1554480"/>
            <a:ext cx="354482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554480"/>
            <a:ext cx="3544824" cy="91440"/>
          </a:xfrm>
          <a:prstGeom prst="rect">
            <a:avLst/>
          </a:prstGeom>
          <a:solidFill>
            <a:srgbClr val="1A8A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50664" y="1810512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it cost?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0664" y="22677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· Log Analytics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50664" y="2633472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model call: model, tokens, latency, status, concurrency. The authoritative traffic record.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50664" y="3794760"/>
            <a:ext cx="3087624" cy="41148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104" y="37947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2,560 calls · 99.0% success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5488" y="1554480"/>
            <a:ext cx="354482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95488" y="1554480"/>
            <a:ext cx="3544824" cy="91440"/>
          </a:xfrm>
          <a:prstGeom prst="rect">
            <a:avLst/>
          </a:prstGeom>
          <a:solidFill>
            <a:srgbClr val="1F7A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4088" y="1810512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calls the agents API?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4088" y="226771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· Log Analytics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24088" y="2633472"/>
            <a:ext cx="3087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per request: auth result, key name, client and tools called.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4088" y="3794760"/>
            <a:ext cx="3087624" cy="41148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25" name="Text 23"/>
          <p:cNvSpPr/>
          <p:nvPr/>
        </p:nvSpPr>
        <p:spPr>
          <a:xfrm>
            <a:off x="8415528" y="379476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Attributed per key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91672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54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Workbooks: </a:t>
            </a:r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Cost Monitor · Server Usage &amp; Guardrails · MCP Usage Monitor · Feedback · WAF Findings.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shown: 28 Sep – 20 Oct 2026.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YOUR OWN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ways to put it to work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44824" cy="214884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3544824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hosted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aka.ms/diagram-builder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v2.1.10 with Voice Live, 14 models and every export.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2064" y="2194560"/>
            <a:ext cx="3544824" cy="214884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2064" y="2194560"/>
            <a:ext cx="3544824" cy="109728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6384" y="251460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it yourself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6384" y="301752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6384" y="3520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Greenfield Bicep provisions Foundry with GPT-5.6 Luna, Container Apps and identity in your subscription.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5488" y="2194560"/>
            <a:ext cx="3544824" cy="214884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194560"/>
            <a:ext cx="3544824" cy="1097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8369808" y="251460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agents the 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9808" y="301752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mcp-server/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9808" y="352044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13 tools over stdio, or point Copilot and Scout at a hosted endpoint with an API key.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github.com/Arturo-Quiroga-MSFT/azure-architecture-diagram-builder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 · Platform deep dive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173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Architecture Diagram Builder — Platform Deep Dive</dc:title>
  <dc:subject>PptxGenJS Presentation</dc:subject>
  <dc:creator>Azure Architecture Diagram Builder</dc:creator>
  <cp:lastModifiedBy>Azure Architecture Diagram Builder</cp:lastModifiedBy>
  <cp:revision>1</cp:revision>
  <dcterms:created xsi:type="dcterms:W3CDTF">2026-10-21T18:44:52Z</dcterms:created>
  <dcterms:modified xsi:type="dcterms:W3CDTF">2026-10-21T18:44:52Z</dcterms:modified>
</cp:coreProperties>
</file>